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</p:sldIdLst>
  <p:sldSz cx="12192000" cy="6858000"/>
  <p:notesSz cx="6799263" cy="99298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5588" tIns="47794" rIns="95588" bIns="4779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1343" y="0"/>
            <a:ext cx="2946347" cy="498215"/>
          </a:xfrm>
          <a:prstGeom prst="rect">
            <a:avLst/>
          </a:prstGeom>
        </p:spPr>
        <p:txBody>
          <a:bodyPr vert="horz" lIns="95588" tIns="47794" rIns="95588" bIns="47794" rtlCol="0"/>
          <a:lstStyle>
            <a:lvl1pPr algn="r">
              <a:defRPr sz="1300"/>
            </a:lvl1pPr>
          </a:lstStyle>
          <a:p>
            <a:fld id="{ABF373F1-079A-476B-8804-4E45F7A9EBC7}" type="datetimeFigureOut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5588" tIns="47794" rIns="95588" bIns="4779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1343" y="9431600"/>
            <a:ext cx="2946347" cy="498214"/>
          </a:xfrm>
          <a:prstGeom prst="rect">
            <a:avLst/>
          </a:prstGeom>
        </p:spPr>
        <p:txBody>
          <a:bodyPr vert="horz" lIns="95588" tIns="47794" rIns="95588" bIns="47794" rtlCol="0" anchor="b"/>
          <a:lstStyle>
            <a:lvl1pPr algn="r">
              <a:defRPr sz="1300"/>
            </a:lvl1pPr>
          </a:lstStyle>
          <a:p>
            <a:fld id="{467C7CA8-B913-419D-A828-AAAD63280A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6540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5588" tIns="47794" rIns="95588" bIns="4779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1343" y="0"/>
            <a:ext cx="2946347" cy="498215"/>
          </a:xfrm>
          <a:prstGeom prst="rect">
            <a:avLst/>
          </a:prstGeom>
        </p:spPr>
        <p:txBody>
          <a:bodyPr vert="horz" lIns="95588" tIns="47794" rIns="95588" bIns="47794" rtlCol="0"/>
          <a:lstStyle>
            <a:lvl1pPr algn="r">
              <a:defRPr sz="1300"/>
            </a:lvl1pPr>
          </a:lstStyle>
          <a:p>
            <a:fld id="{71ED8628-9FA2-47AC-8458-BC12419617EC}" type="datetimeFigureOut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88" tIns="47794" rIns="95588" bIns="4779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5588" tIns="47794" rIns="95588" bIns="47794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5588" tIns="47794" rIns="95588" bIns="4779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1343" y="9431600"/>
            <a:ext cx="2946347" cy="498214"/>
          </a:xfrm>
          <a:prstGeom prst="rect">
            <a:avLst/>
          </a:prstGeom>
        </p:spPr>
        <p:txBody>
          <a:bodyPr vert="horz" lIns="95588" tIns="47794" rIns="95588" bIns="47794" rtlCol="0" anchor="b"/>
          <a:lstStyle>
            <a:lvl1pPr algn="r">
              <a:defRPr sz="1300"/>
            </a:lvl1pPr>
          </a:lstStyle>
          <a:p>
            <a:fld id="{2C591075-AABE-430C-A647-F11C676B6A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5680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510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3586-24C5-4CA0-9616-9F08ACE35587}" type="datetime1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BEBB-868E-4A6E-B040-D24DC6646DF4}" type="datetime1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2380C-4711-4AA6-A495-E92CDC50B655}" type="datetime1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06E36-D0CF-46BF-BE56-B58E2D2AF0CA}" type="datetime1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9C48B-B62B-42FA-ABFD-1887DE8B5904}" type="datetime1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6EEE3-B184-449C-A732-747B29F89F88}" type="datetime1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AA09-221E-4260-BE66-6639E5956120}" type="datetime1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7992762" y="6356349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415481" y="6361326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425D2-29F5-48EC-A653-A309FDF17388}" type="datetime1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C9B9-AA76-49A8-96C4-6F1DCFC0B711}" type="datetime1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E4A5-A6EC-4798-A740-14FA7B77C0C0}" type="datetime1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416E-0116-4A7E-BF92-5DD956E2919B}" type="datetime1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4E823-A138-42E7-A9DC-37685DF66AB2}" type="datetime1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552935" y="63778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90535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37308" y="131055"/>
            <a:ext cx="11554692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altLang="zh-CN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2025H1</a:t>
            </a:r>
            <a:r>
              <a:rPr lang="zh-CN" altLang="zh-CN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公</a:t>
            </a:r>
            <a:r>
              <a:rPr lang="zh-CN" altLang="zh-CN" sz="1200" b="1" kern="100" dirty="0">
                <a:latin typeface="+mj-ea"/>
                <a:ea typeface="+mj-ea"/>
                <a:cs typeface="Times New Roman" panose="02020603050405020304" pitchFamily="18" charset="0"/>
              </a:rPr>
              <a:t>募行业数据简报</a:t>
            </a:r>
            <a:endParaRPr lang="zh-CN" altLang="zh-CN" sz="12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200" b="1" kern="100" dirty="0">
                <a:latin typeface="+mj-ea"/>
                <a:ea typeface="+mj-ea"/>
                <a:cs typeface="Times New Roman" panose="02020603050405020304" pitchFamily="18" charset="0"/>
              </a:rPr>
              <a:t>如无特别注明，以下数据口径均未剔除联接，数据来源</a:t>
            </a:r>
            <a:r>
              <a:rPr lang="en-US" altLang="zh-CN" sz="1200" b="1" kern="100" dirty="0">
                <a:latin typeface="+mj-ea"/>
                <a:ea typeface="+mj-ea"/>
                <a:cs typeface="Times New Roman" panose="02020603050405020304" pitchFamily="18" charset="0"/>
              </a:rPr>
              <a:t>wind</a:t>
            </a:r>
            <a:endParaRPr lang="zh-CN" altLang="zh-CN" sz="12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200" kern="100" dirty="0">
                <a:latin typeface="+mj-ea"/>
                <a:ea typeface="+mj-ea"/>
                <a:cs typeface="Times New Roman" panose="02020603050405020304" pitchFamily="18" charset="0"/>
              </a:rPr>
              <a:t>一、</a:t>
            </a:r>
            <a:r>
              <a:rPr lang="en-US" altLang="zh-CN" sz="1200" b="1" kern="0" dirty="0" smtClean="0">
                <a:solidFill>
                  <a:srgbClr val="000000"/>
                </a:solidFill>
                <a:latin typeface="+mj-ea"/>
                <a:ea typeface="+mj-ea"/>
                <a:cs typeface="宋体" panose="02010600030101010101" pitchFamily="2" charset="-122"/>
              </a:rPr>
              <a:t>2025H1</a:t>
            </a:r>
            <a:r>
              <a:rPr lang="zh-CN" altLang="zh-CN" sz="1200" b="1" kern="0" dirty="0" smtClean="0">
                <a:solidFill>
                  <a:srgbClr val="000000"/>
                </a:solidFill>
                <a:latin typeface="+mj-ea"/>
                <a:ea typeface="+mj-ea"/>
                <a:cs typeface="宋体" panose="02010600030101010101" pitchFamily="2" charset="-122"/>
              </a:rPr>
              <a:t>公</a:t>
            </a:r>
            <a:r>
              <a:rPr lang="zh-CN" altLang="zh-CN" sz="1200" b="1" kern="0" dirty="0">
                <a:solidFill>
                  <a:srgbClr val="000000"/>
                </a:solidFill>
                <a:latin typeface="+mj-ea"/>
                <a:ea typeface="+mj-ea"/>
                <a:cs typeface="宋体" panose="02010600030101010101" pitchFamily="2" charset="-122"/>
              </a:rPr>
              <a:t>募规模整体情况</a:t>
            </a:r>
            <a:endParaRPr lang="zh-CN" altLang="zh-CN" sz="12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截至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6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月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30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日</a:t>
            </a:r>
            <a:r>
              <a:rPr lang="zh-CN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，公募行业总规模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34.4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万亿（增速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%</a:t>
            </a:r>
            <a:r>
              <a:rPr lang="zh-CN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），非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货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20.2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万亿（增速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%</a:t>
            </a:r>
            <a:r>
              <a:rPr lang="zh-CN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）。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年上半年，所有品类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规模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增速均为正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：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、增速最快的品类是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FOF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，规模增长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325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亿，增速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；其中</a:t>
            </a:r>
            <a:r>
              <a:rPr lang="zh-CN" altLang="en-US" sz="1000" u="sng" kern="100" dirty="0" smtClean="0">
                <a:latin typeface="+mj-ea"/>
                <a:ea typeface="+mj-ea"/>
                <a:cs typeface="Times New Roman" panose="02020603050405020304" pitchFamily="18" charset="0"/>
              </a:rPr>
              <a:t>季度新发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贡献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328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亿，是增量大头。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、固收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+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增速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17%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，逆转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年规模下降颓势；增量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2446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亿中，其中有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1660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亿来自于</a:t>
            </a:r>
            <a:r>
              <a:rPr lang="zh-CN" altLang="en-US" sz="1000" u="sng" kern="100" dirty="0" smtClean="0">
                <a:latin typeface="+mj-ea"/>
                <a:ea typeface="+mj-ea"/>
                <a:cs typeface="Times New Roman" panose="02020603050405020304" pitchFamily="18" charset="0"/>
              </a:rPr>
              <a:t>持营贡献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，受益于股市回暖的增配需求。</a:t>
            </a:r>
            <a:endParaRPr lang="zh-CN" altLang="zh-CN" sz="10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1000" kern="100" dirty="0">
                <a:latin typeface="+mj-ea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、</a:t>
            </a:r>
            <a:r>
              <a:rPr lang="zh-CN" altLang="zh-CN" sz="1000" kern="100" dirty="0">
                <a:latin typeface="+mj-ea"/>
                <a:cs typeface="Times New Roman" panose="02020603050405020304" pitchFamily="18" charset="0"/>
              </a:rPr>
              <a:t>被动</a:t>
            </a:r>
            <a:r>
              <a:rPr lang="zh-CN" altLang="zh-CN" sz="1000" kern="100" dirty="0" smtClean="0">
                <a:latin typeface="+mj-ea"/>
                <a:cs typeface="Times New Roman" panose="02020603050405020304" pitchFamily="18" charset="0"/>
              </a:rPr>
              <a:t>权益增速</a:t>
            </a:r>
            <a:r>
              <a:rPr lang="en-US" altLang="zh-CN" sz="1000" kern="100" dirty="0" smtClean="0">
                <a:latin typeface="+mj-ea"/>
                <a:cs typeface="Times New Roman" panose="02020603050405020304" pitchFamily="18" charset="0"/>
              </a:rPr>
              <a:t>9%</a:t>
            </a:r>
            <a:r>
              <a:rPr lang="zh-CN" altLang="zh-CN" sz="1000" kern="100" dirty="0">
                <a:latin typeface="+mj-ea"/>
                <a:cs typeface="Times New Roman" panose="02020603050405020304" pitchFamily="18" charset="0"/>
              </a:rPr>
              <a:t>，</a:t>
            </a:r>
            <a:r>
              <a:rPr lang="zh-CN" altLang="zh-CN" sz="1000" kern="100" dirty="0" smtClean="0">
                <a:latin typeface="+mj-ea"/>
                <a:cs typeface="Times New Roman" panose="02020603050405020304" pitchFamily="18" charset="0"/>
              </a:rPr>
              <a:t>增量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近</a:t>
            </a:r>
            <a:r>
              <a:rPr lang="en-US" altLang="zh-CN" sz="1000" kern="100" dirty="0" smtClean="0">
                <a:latin typeface="+mj-ea"/>
                <a:cs typeface="Times New Roman" panose="02020603050405020304" pitchFamily="18" charset="0"/>
              </a:rPr>
              <a:t>4000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亿，主要来自新发和净值增长。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、主动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权益增速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，增量近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500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亿，主要源于净值增长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2143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亿，</a:t>
            </a:r>
            <a:r>
              <a:rPr lang="zh-CN" altLang="en-US" sz="1000" u="sng" kern="100" dirty="0" smtClean="0">
                <a:latin typeface="+mj-ea"/>
                <a:ea typeface="+mj-ea"/>
                <a:cs typeface="Times New Roman" panose="02020603050405020304" pitchFamily="18" charset="0"/>
              </a:rPr>
              <a:t>上半年持营为负贡献，净流出</a:t>
            </a:r>
            <a:r>
              <a:rPr lang="en-US" altLang="zh-CN" sz="1000" u="sng" kern="100" dirty="0" smtClean="0">
                <a:latin typeface="+mj-ea"/>
                <a:ea typeface="+mj-ea"/>
                <a:cs typeface="Times New Roman" panose="02020603050405020304" pitchFamily="18" charset="0"/>
              </a:rPr>
              <a:t>2200</a:t>
            </a:r>
            <a:r>
              <a:rPr lang="zh-CN" altLang="en-US" sz="1000" u="sng" kern="100" dirty="0" smtClean="0">
                <a:latin typeface="+mj-ea"/>
                <a:ea typeface="+mj-ea"/>
                <a:cs typeface="Times New Roman" panose="02020603050405020304" pitchFamily="18" charset="0"/>
              </a:rPr>
              <a:t>亿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值得关注的是，一季度货币和固收规模均下降，而在半年度，货币和固收今年增长规模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均转正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；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其中，货币规模转正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，受益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于资金面转宽，</a:t>
            </a:r>
            <a:r>
              <a:rPr lang="en-US" altLang="zh-CN" sz="1000" kern="100" dirty="0" smtClean="0">
                <a:latin typeface="+mj-ea"/>
                <a:cs typeface="Times New Roman" panose="02020603050405020304" pitchFamily="18" charset="0"/>
              </a:rPr>
              <a:t>Q1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赎回的机构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货币在</a:t>
            </a:r>
            <a:r>
              <a:rPr lang="en-US" altLang="zh-CN" sz="1000" kern="100" dirty="0" smtClean="0">
                <a:latin typeface="+mj-ea"/>
                <a:cs typeface="Times New Roman" panose="02020603050405020304" pitchFamily="18" charset="0"/>
              </a:rPr>
              <a:t>Q2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回流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；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而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固收增量转正，主要来自于新发贡献，持营为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-1600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亿。</a:t>
            </a:r>
            <a:endParaRPr lang="zh-CN" altLang="zh-CN" sz="10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5061065" y="6422852"/>
            <a:ext cx="2743200" cy="365125"/>
          </a:xfrm>
        </p:spPr>
        <p:txBody>
          <a:bodyPr/>
          <a:lstStyle/>
          <a:p>
            <a:pPr algn="ctr"/>
            <a:fld id="{565CE74E-AB26-4998-AD42-012C4C1AD076}" type="slidenum">
              <a:rPr lang="zh-CN" altLang="en-US" smtClean="0"/>
              <a:pPr algn="ctr"/>
              <a:t>1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349259" y="6176631"/>
            <a:ext cx="21668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注：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REITs</a:t>
            </a:r>
            <a:r>
              <a:rPr lang="zh-CN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和另类基金未在表中注明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683" y="3768721"/>
            <a:ext cx="7288125" cy="22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745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04059" y="285210"/>
            <a:ext cx="9770226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200" b="1" kern="100" dirty="0">
                <a:latin typeface="+mj-ea"/>
                <a:ea typeface="+mj-ea"/>
                <a:cs typeface="Times New Roman" panose="02020603050405020304" pitchFamily="18" charset="0"/>
              </a:rPr>
              <a:t> 二、</a:t>
            </a:r>
            <a:r>
              <a:rPr lang="en-US" altLang="zh-CN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2025H1</a:t>
            </a:r>
            <a:r>
              <a:rPr lang="zh-CN" altLang="zh-CN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公</a:t>
            </a:r>
            <a:r>
              <a:rPr lang="zh-CN" altLang="zh-CN" sz="1200" b="1" kern="100" dirty="0">
                <a:latin typeface="+mj-ea"/>
                <a:ea typeface="+mj-ea"/>
                <a:cs typeface="Times New Roman" panose="02020603050405020304" pitchFamily="18" charset="0"/>
              </a:rPr>
              <a:t>募基金总规模（含货币）排名</a:t>
            </a:r>
            <a:endParaRPr lang="zh-CN" altLang="zh-CN" sz="12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总规模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Top30</a:t>
            </a:r>
            <a:r>
              <a:rPr lang="zh-CN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公司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中欧、兴业排名分别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上升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名和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交银排名下降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名，其他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公司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位次</a:t>
            </a:r>
            <a:r>
              <a:rPr lang="zh-CN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变化不大。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银华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总</a:t>
            </a:r>
            <a:r>
              <a:rPr lang="zh-CN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规模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排名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22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年底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和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25Q1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排名不变</a:t>
            </a:r>
            <a:r>
              <a:rPr lang="zh-CN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银华总规模较年初增长</a:t>
            </a:r>
            <a:r>
              <a:rPr lang="en-US" altLang="zh-CN" sz="1000" kern="100" dirty="0" smtClean="0">
                <a:latin typeface="+mj-ea"/>
                <a:cs typeface="Times New Roman" panose="02020603050405020304" pitchFamily="18" charset="0"/>
              </a:rPr>
              <a:t>462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亿，增速为</a:t>
            </a:r>
            <a:r>
              <a:rPr lang="en-US" altLang="zh-CN" sz="1000" kern="100" dirty="0">
                <a:latin typeface="+mj-ea"/>
                <a:cs typeface="Times New Roman" panose="02020603050405020304" pitchFamily="18" charset="0"/>
              </a:rPr>
              <a:t>9</a:t>
            </a:r>
            <a:r>
              <a:rPr lang="en-US" altLang="zh-CN" sz="1000" kern="100" dirty="0" smtClean="0">
                <a:latin typeface="+mj-ea"/>
                <a:cs typeface="Times New Roman" panose="02020603050405020304" pitchFamily="18" charset="0"/>
              </a:rPr>
              <a:t>%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；</a:t>
            </a:r>
            <a:r>
              <a:rPr lang="en-US" altLang="zh-CN" sz="1000" kern="100" dirty="0" smtClean="0">
                <a:latin typeface="+mj-ea"/>
                <a:cs typeface="Times New Roman" panose="02020603050405020304" pitchFamily="18" charset="0"/>
              </a:rPr>
              <a:t>Top30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公司中，有</a:t>
            </a:r>
            <a:r>
              <a:rPr lang="en-US" altLang="zh-CN" sz="1000" kern="100" dirty="0" smtClean="0">
                <a:latin typeface="+mj-ea"/>
                <a:cs typeface="Times New Roman" panose="02020603050405020304" pitchFamily="18" charset="0"/>
              </a:rPr>
              <a:t>90%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的公司上半年增量均为正。</a:t>
            </a:r>
            <a:endParaRPr lang="zh-CN" altLang="zh-CN" sz="1000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10365" y="6611035"/>
            <a:ext cx="36409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注：被动权益</a:t>
            </a:r>
            <a:r>
              <a:rPr lang="en-US" altLang="zh-CN" sz="900" dirty="0" smtClean="0"/>
              <a:t>=ETF+</a:t>
            </a:r>
            <a:r>
              <a:rPr lang="zh-CN" altLang="en-US" sz="900" dirty="0" smtClean="0"/>
              <a:t>联接</a:t>
            </a:r>
            <a:r>
              <a:rPr lang="en-US" altLang="zh-CN" sz="900" dirty="0" smtClean="0"/>
              <a:t>+</a:t>
            </a:r>
            <a:r>
              <a:rPr lang="zh-CN" altLang="en-US" sz="900" dirty="0" smtClean="0"/>
              <a:t>场外普通指数</a:t>
            </a:r>
            <a:r>
              <a:rPr lang="en-US" altLang="zh-CN" sz="900" dirty="0" smtClean="0"/>
              <a:t>+</a:t>
            </a:r>
            <a:r>
              <a:rPr lang="zh-CN" altLang="en-US" sz="900" dirty="0" smtClean="0"/>
              <a:t>场外指数增强</a:t>
            </a:r>
            <a:endParaRPr lang="zh-CN" altLang="en-US" sz="9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78" y="1241746"/>
            <a:ext cx="7635201" cy="511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496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4656551" y="6377459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73368" y="368338"/>
            <a:ext cx="10116552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三</a:t>
            </a:r>
            <a:r>
              <a:rPr lang="zh-CN" altLang="en-US" sz="1200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2025H1</a:t>
            </a:r>
            <a:r>
              <a:rPr lang="zh-CN" altLang="en-US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公</a:t>
            </a:r>
            <a:r>
              <a:rPr lang="zh-CN" altLang="en-US" sz="1200" b="1" kern="100" dirty="0">
                <a:latin typeface="+mj-ea"/>
                <a:ea typeface="+mj-ea"/>
                <a:cs typeface="Times New Roman" panose="02020603050405020304" pitchFamily="18" charset="0"/>
              </a:rPr>
              <a:t>募基金非货规模排名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非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货规模方面，银华位列第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位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，相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24Q4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下降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名，较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25Q1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下降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名。</a:t>
            </a:r>
            <a:r>
              <a:rPr lang="en-US" altLang="zh-CN" sz="1000" u="sng" kern="100" dirty="0" smtClean="0">
                <a:latin typeface="+mj-ea"/>
                <a:ea typeface="+mj-ea"/>
                <a:cs typeface="Times New Roman" panose="02020603050405020304" pitchFamily="18" charset="0"/>
              </a:rPr>
              <a:t>Q1</a:t>
            </a:r>
            <a:r>
              <a:rPr lang="zh-CN" altLang="en-US" sz="1000" u="sng" kern="100" dirty="0" smtClean="0">
                <a:latin typeface="+mj-ea"/>
                <a:ea typeface="+mj-ea"/>
                <a:cs typeface="Times New Roman" panose="02020603050405020304" pitchFamily="18" charset="0"/>
              </a:rPr>
              <a:t>被大成超越，</a:t>
            </a:r>
            <a:r>
              <a:rPr lang="en-US" altLang="zh-CN" sz="1000" u="sng" kern="100" dirty="0" smtClean="0">
                <a:latin typeface="+mj-ea"/>
                <a:ea typeface="+mj-ea"/>
                <a:cs typeface="Times New Roman" panose="02020603050405020304" pitchFamily="18" charset="0"/>
              </a:rPr>
              <a:t>Q2</a:t>
            </a:r>
            <a:r>
              <a:rPr lang="zh-CN" altLang="en-US" sz="1000" u="sng" kern="100" dirty="0" smtClean="0">
                <a:latin typeface="+mj-ea"/>
                <a:ea typeface="+mj-ea"/>
                <a:cs typeface="Times New Roman" panose="02020603050405020304" pitchFamily="18" charset="0"/>
              </a:rPr>
              <a:t>被兴业超越。 </a:t>
            </a:r>
            <a:endParaRPr lang="zh-CN" altLang="en-US" sz="1000" u="sng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银华非货，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25H1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增量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-29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亿，增速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-1%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，增量和增速排名在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Top30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中分别是第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28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名和第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27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名；非货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Top30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公司作为一个整体，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25H1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增速为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7%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银华非货各品类，除存量较小的固收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+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和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FOF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增速较快外，其他品类增速均弱于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Top30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竞对组。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901" y="1402685"/>
            <a:ext cx="9118909" cy="498980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93739" y="6627168"/>
            <a:ext cx="36409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注：被动权益</a:t>
            </a:r>
            <a:r>
              <a:rPr lang="en-US" altLang="zh-CN" sz="900" dirty="0" smtClean="0"/>
              <a:t>=ETF+</a:t>
            </a:r>
            <a:r>
              <a:rPr lang="zh-CN" altLang="en-US" sz="900" dirty="0" smtClean="0"/>
              <a:t>联接</a:t>
            </a:r>
            <a:r>
              <a:rPr lang="en-US" altLang="zh-CN" sz="900" dirty="0" smtClean="0"/>
              <a:t>+</a:t>
            </a:r>
            <a:r>
              <a:rPr lang="zh-CN" altLang="en-US" sz="900" dirty="0" smtClean="0"/>
              <a:t>场外普通指数</a:t>
            </a:r>
            <a:r>
              <a:rPr lang="en-US" altLang="zh-CN" sz="900" dirty="0" smtClean="0"/>
              <a:t>+</a:t>
            </a:r>
            <a:r>
              <a:rPr lang="zh-CN" altLang="en-US" sz="900" dirty="0" smtClean="0"/>
              <a:t>场外指数增强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2423706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4493739" y="6347185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73367" y="227021"/>
            <a:ext cx="10856385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四</a:t>
            </a:r>
            <a:r>
              <a:rPr lang="zh-CN" altLang="en-US" sz="1200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2025H1</a:t>
            </a:r>
            <a:r>
              <a:rPr lang="zh-CN" altLang="en-US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非</a:t>
            </a:r>
            <a:r>
              <a:rPr lang="zh-CN" altLang="en-US" sz="1200" b="1" kern="100" dirty="0">
                <a:latin typeface="+mj-ea"/>
                <a:ea typeface="+mj-ea"/>
                <a:cs typeface="Times New Roman" panose="02020603050405020304" pitchFamily="18" charset="0"/>
              </a:rPr>
              <a:t>货增量情况概览 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银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华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25H1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非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货增量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为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-29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，在全行业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176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名；其中被动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权益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增量和固收增量排名，分别在第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195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名和第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180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名。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值得关注的是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兴业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，非货增量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518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亿，排名第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8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：固收和固收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+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增量分别位列行业第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名和第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7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名。本季度非货排名超越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我司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，排名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从第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名提升到第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名；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此外，中欧非货增量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619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亿，排名第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6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，四项主要业务均迎来正增长，尤其是擅长的含权类业务主动权益和固收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+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增量，均为第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名；历史上不擅长的固收业务增量排名也达到了第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名。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03" y="1196517"/>
            <a:ext cx="8060889" cy="52358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93739" y="6627168"/>
            <a:ext cx="36409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注：被动权益</a:t>
            </a:r>
            <a:r>
              <a:rPr lang="en-US" altLang="zh-CN" sz="900" dirty="0" smtClean="0"/>
              <a:t>=ETF+</a:t>
            </a:r>
            <a:r>
              <a:rPr lang="zh-CN" altLang="en-US" sz="900" dirty="0" smtClean="0"/>
              <a:t>联接</a:t>
            </a:r>
            <a:r>
              <a:rPr lang="en-US" altLang="zh-CN" sz="900" dirty="0" smtClean="0"/>
              <a:t>+</a:t>
            </a:r>
            <a:r>
              <a:rPr lang="zh-CN" altLang="en-US" sz="900" dirty="0" smtClean="0"/>
              <a:t>场外普通指数</a:t>
            </a:r>
            <a:r>
              <a:rPr lang="en-US" altLang="zh-CN" sz="900" dirty="0" smtClean="0"/>
              <a:t>+</a:t>
            </a:r>
            <a:r>
              <a:rPr lang="zh-CN" altLang="en-US" sz="900" dirty="0" smtClean="0"/>
              <a:t>场外指数增强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284808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4292402" y="6582367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720435" y="221334"/>
            <a:ext cx="113080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五</a:t>
            </a:r>
            <a:r>
              <a:rPr lang="zh-CN" altLang="en-US" sz="1200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2025H1</a:t>
            </a:r>
            <a:r>
              <a:rPr lang="zh-CN" altLang="en-US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各项</a:t>
            </a:r>
            <a:r>
              <a:rPr lang="zh-CN" altLang="en-US" sz="1200" b="1" kern="100" dirty="0">
                <a:latin typeface="+mj-ea"/>
                <a:ea typeface="+mj-ea"/>
                <a:cs typeface="Times New Roman" panose="02020603050405020304" pitchFamily="18" charset="0"/>
              </a:rPr>
              <a:t>业务排名</a:t>
            </a:r>
            <a:r>
              <a:rPr lang="zh-CN" altLang="en-US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情况</a:t>
            </a:r>
            <a:endParaRPr lang="zh-CN" altLang="en-US" sz="1200" b="1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主动权益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Top30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公司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，绝大多数公司规模和增速均小幅波动，且绝大多数公司的持营贡献均为负。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值得注意的是永赢和鹏华凭借高锐度赛道基金的业绩，持营带动下，规模和排名上升明显。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其中永赢连续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个季度排名大幅攀升，上半年共上升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22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名，规模增量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245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亿，增速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145%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；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鹏华增量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119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亿，增速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19%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，排名上升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名。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银华主动权益排名，位列第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16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名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，排名较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年底和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25Q1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不变；规模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年底增长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17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亿，主要由净值增长带动。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07916" y="1370057"/>
            <a:ext cx="11560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b="1" kern="100" dirty="0">
                <a:latin typeface="+mj-ea"/>
                <a:ea typeface="+mj-ea"/>
                <a:cs typeface="Times New Roman" panose="02020603050405020304" pitchFamily="18" charset="0"/>
              </a:rPr>
              <a:t>1 </a:t>
            </a:r>
            <a:r>
              <a:rPr lang="zh-CN" altLang="zh-CN" sz="1100" b="1" kern="100" dirty="0">
                <a:latin typeface="+mj-ea"/>
                <a:ea typeface="+mj-ea"/>
                <a:cs typeface="Times New Roman" panose="02020603050405020304" pitchFamily="18" charset="0"/>
              </a:rPr>
              <a:t>主动权益排名</a:t>
            </a:r>
            <a:endParaRPr lang="zh-CN" altLang="en-US" sz="1100" b="1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124" y="1631667"/>
            <a:ext cx="6291440" cy="507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2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4806374" y="6572973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720435" y="609407"/>
            <a:ext cx="854825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银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华权益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ETF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（含联接）排名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17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名，较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年底和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25Q1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持平；规模下滑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9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亿。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CN" altLang="zh-CN" sz="1000" u="sng" dirty="0">
                <a:latin typeface="+mj-ea"/>
                <a:ea typeface="+mj-ea"/>
              </a:rPr>
              <a:t>银华权益</a:t>
            </a:r>
            <a:r>
              <a:rPr lang="en-US" altLang="zh-CN" sz="1000" u="sng" dirty="0">
                <a:latin typeface="+mj-ea"/>
                <a:ea typeface="+mj-ea"/>
              </a:rPr>
              <a:t>ETF</a:t>
            </a:r>
            <a:r>
              <a:rPr lang="zh-CN" altLang="zh-CN" sz="1000" u="sng" dirty="0">
                <a:latin typeface="+mj-ea"/>
                <a:ea typeface="+mj-ea"/>
              </a:rPr>
              <a:t>（不含联接）</a:t>
            </a:r>
            <a:r>
              <a:rPr lang="zh-CN" altLang="zh-CN" sz="1000" dirty="0">
                <a:latin typeface="+mj-ea"/>
                <a:ea typeface="+mj-ea"/>
              </a:rPr>
              <a:t>排名</a:t>
            </a:r>
            <a:r>
              <a:rPr lang="en-US" altLang="zh-CN" sz="1000" dirty="0" smtClean="0">
                <a:latin typeface="+mj-ea"/>
                <a:ea typeface="+mj-ea"/>
              </a:rPr>
              <a:t>16</a:t>
            </a:r>
            <a:r>
              <a:rPr lang="zh-CN" altLang="zh-CN" sz="1000" dirty="0" smtClean="0">
                <a:latin typeface="+mj-ea"/>
                <a:ea typeface="+mj-ea"/>
              </a:rPr>
              <a:t>名</a:t>
            </a:r>
            <a:r>
              <a:rPr lang="zh-CN" altLang="zh-CN" sz="1000" dirty="0">
                <a:latin typeface="+mj-ea"/>
                <a:ea typeface="+mj-ea"/>
              </a:rPr>
              <a:t>，较</a:t>
            </a:r>
            <a:r>
              <a:rPr lang="en-US" altLang="zh-CN" sz="1000" dirty="0" smtClean="0">
                <a:latin typeface="+mj-ea"/>
                <a:ea typeface="+mj-ea"/>
              </a:rPr>
              <a:t>24</a:t>
            </a:r>
            <a:r>
              <a:rPr lang="zh-CN" altLang="zh-CN" sz="1000" dirty="0" smtClean="0">
                <a:latin typeface="+mj-ea"/>
                <a:ea typeface="+mj-ea"/>
              </a:rPr>
              <a:t>年底</a:t>
            </a:r>
            <a:r>
              <a:rPr lang="zh-CN" altLang="en-US" sz="1000" dirty="0" smtClean="0">
                <a:latin typeface="+mj-ea"/>
                <a:ea typeface="+mj-ea"/>
              </a:rPr>
              <a:t>↓</a:t>
            </a:r>
            <a:r>
              <a:rPr lang="en-US" altLang="zh-CN" sz="1000" dirty="0" smtClean="0">
                <a:latin typeface="+mj-ea"/>
                <a:ea typeface="+mj-ea"/>
              </a:rPr>
              <a:t>1</a:t>
            </a:r>
            <a:r>
              <a:rPr lang="zh-CN" altLang="en-US" sz="1000" dirty="0" smtClean="0">
                <a:latin typeface="+mj-ea"/>
                <a:ea typeface="+mj-ea"/>
              </a:rPr>
              <a:t>名，较</a:t>
            </a:r>
            <a:r>
              <a:rPr lang="en-US" altLang="zh-CN" sz="1000" dirty="0" smtClean="0">
                <a:latin typeface="+mj-ea"/>
                <a:ea typeface="+mj-ea"/>
              </a:rPr>
              <a:t>25Q1</a:t>
            </a:r>
            <a:r>
              <a:rPr lang="zh-CN" altLang="en-US" sz="1000" dirty="0" smtClean="0">
                <a:latin typeface="+mj-ea"/>
                <a:ea typeface="+mj-ea"/>
              </a:rPr>
              <a:t>持平；规模下滑</a:t>
            </a:r>
            <a:r>
              <a:rPr lang="en-US" altLang="zh-CN" sz="1000" dirty="0" smtClean="0">
                <a:latin typeface="+mj-ea"/>
                <a:ea typeface="+mj-ea"/>
              </a:rPr>
              <a:t>35</a:t>
            </a:r>
            <a:r>
              <a:rPr lang="zh-CN" altLang="en-US" sz="1000" dirty="0" smtClean="0">
                <a:latin typeface="+mj-ea"/>
                <a:ea typeface="+mj-ea"/>
              </a:rPr>
              <a:t>亿</a:t>
            </a:r>
            <a:r>
              <a:rPr lang="zh-CN" altLang="zh-CN" sz="1000" dirty="0" smtClean="0">
                <a:latin typeface="+mj-ea"/>
                <a:ea typeface="+mj-ea"/>
              </a:rPr>
              <a:t>。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31340" y="1313035"/>
            <a:ext cx="191539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2.1</a:t>
            </a:r>
            <a:r>
              <a:rPr lang="zh-CN" altLang="en-US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权益</a:t>
            </a:r>
            <a:r>
              <a:rPr lang="en-US" altLang="zh-CN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ETF</a:t>
            </a:r>
            <a:r>
              <a:rPr lang="zh-CN" altLang="en-US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（含联接）排名</a:t>
            </a:r>
            <a:endParaRPr lang="zh-CN" altLang="en-US" sz="1100" b="1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409211" y="1313035"/>
            <a:ext cx="210134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2.2</a:t>
            </a:r>
            <a:r>
              <a:rPr lang="zh-CN" altLang="en-US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权益</a:t>
            </a:r>
            <a:r>
              <a:rPr lang="en-US" altLang="zh-CN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ETF</a:t>
            </a:r>
            <a:r>
              <a:rPr lang="zh-CN" altLang="en-US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（不含联接）排名</a:t>
            </a:r>
            <a:endParaRPr lang="zh-CN" altLang="en-US" sz="1100" b="1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78" y="1655397"/>
            <a:ext cx="5591608" cy="502109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726" y="1663710"/>
            <a:ext cx="5609941" cy="502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4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4415480" y="6494965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29391" y="466334"/>
            <a:ext cx="115768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en-US" altLang="zh-CN" sz="1100" b="1" kern="100" dirty="0">
                <a:latin typeface="+mj-ea"/>
                <a:ea typeface="+mj-ea"/>
                <a:cs typeface="Times New Roman" panose="02020603050405020304" pitchFamily="18" charset="0"/>
              </a:rPr>
              <a:t>.</a:t>
            </a:r>
            <a:r>
              <a:rPr lang="zh-CN" altLang="en-US" sz="1100" b="1" kern="100" dirty="0">
                <a:latin typeface="+mj-ea"/>
                <a:ea typeface="+mj-ea"/>
                <a:cs typeface="Times New Roman" panose="02020603050405020304" pitchFamily="18" charset="0"/>
              </a:rPr>
              <a:t>货币排名</a:t>
            </a:r>
            <a:r>
              <a:rPr lang="zh-CN" altLang="en-US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情况</a:t>
            </a:r>
            <a:endParaRPr lang="zh-CN" altLang="en-US" sz="1100" b="1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5761" y="220113"/>
            <a:ext cx="115713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银华货币业务，位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列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18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，排名较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年底↑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名，较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25Q1 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↑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名；华夏基金货币规模连续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个季度大增，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上半年增长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2249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亿（互联网货币份额增长近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85%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），排名上升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名，货基规模位列第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名，仅次于天弘。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825" y="727943"/>
            <a:ext cx="6756566" cy="576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385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4243248" y="6545585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318063" y="647659"/>
            <a:ext cx="11993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en-US" altLang="zh-CN" sz="1100" b="1" kern="100" dirty="0">
                <a:latin typeface="+mj-ea"/>
                <a:ea typeface="+mj-ea"/>
                <a:cs typeface="Times New Roman" panose="02020603050405020304" pitchFamily="18" charset="0"/>
              </a:rPr>
              <a:t>. </a:t>
            </a:r>
            <a:r>
              <a:rPr lang="zh-CN" altLang="en-US" sz="1100" b="1" kern="100" dirty="0">
                <a:latin typeface="+mj-ea"/>
                <a:ea typeface="+mj-ea"/>
                <a:cs typeface="Times New Roman" panose="02020603050405020304" pitchFamily="18" charset="0"/>
              </a:rPr>
              <a:t>固收排名情况</a:t>
            </a:r>
          </a:p>
        </p:txBody>
      </p:sp>
      <p:sp>
        <p:nvSpPr>
          <p:cNvPr id="6" name="矩形 5"/>
          <p:cNvSpPr/>
          <p:nvPr/>
        </p:nvSpPr>
        <p:spPr>
          <a:xfrm>
            <a:off x="820188" y="150099"/>
            <a:ext cx="859813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固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收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Top30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公司，受固收市场调整影响，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25Q1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仅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兴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业和民生加银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家规模实现正增长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；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但截止上半年，有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18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家公司实现规模正增长。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银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华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25H1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位列第</a:t>
            </a:r>
            <a:r>
              <a:rPr lang="en-US" altLang="zh-CN" sz="1000" kern="100" dirty="0" smtClean="0">
                <a:latin typeface="+mj-ea"/>
                <a:cs typeface="Times New Roman" panose="02020603050405020304" pitchFamily="18" charset="0"/>
              </a:rPr>
              <a:t>32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名，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年底排名下滑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名，较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25Q1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下降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名；</a:t>
            </a:r>
            <a:r>
              <a:rPr lang="zh-CN" altLang="en-US" sz="1000" kern="100" dirty="0">
                <a:latin typeface="+mj-ea"/>
                <a:cs typeface="Times New Roman" panose="02020603050405020304" pitchFamily="18" charset="0"/>
              </a:rPr>
              <a:t>固收规模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下滑</a:t>
            </a:r>
            <a:r>
              <a:rPr lang="en-US" altLang="zh-CN" sz="1000" kern="100" dirty="0" smtClean="0">
                <a:latin typeface="+mj-ea"/>
                <a:cs typeface="Times New Roman" panose="02020603050405020304" pitchFamily="18" charset="0"/>
              </a:rPr>
              <a:t>65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亿</a:t>
            </a:r>
            <a:r>
              <a:rPr lang="zh-CN" altLang="en-US" sz="1000" kern="100" dirty="0">
                <a:latin typeface="+mj-ea"/>
                <a:cs typeface="Times New Roman" panose="02020603050405020304" pitchFamily="18" charset="0"/>
              </a:rPr>
              <a:t>，下滑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增速</a:t>
            </a:r>
            <a:r>
              <a:rPr lang="en-US" altLang="zh-CN" sz="1000" kern="100" dirty="0" smtClean="0">
                <a:latin typeface="+mj-ea"/>
                <a:cs typeface="Times New Roman" panose="02020603050405020304" pitchFamily="18" charset="0"/>
              </a:rPr>
              <a:t>-5%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。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011" y="874426"/>
            <a:ext cx="6832540" cy="576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6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4538845" y="6560832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954482" y="576535"/>
            <a:ext cx="130676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b="1" kern="100" dirty="0">
                <a:latin typeface="+mj-ea"/>
                <a:ea typeface="+mj-ea"/>
                <a:cs typeface="Times New Roman" panose="02020603050405020304" pitchFamily="18" charset="0"/>
              </a:rPr>
              <a:t>5. </a:t>
            </a:r>
            <a:r>
              <a:rPr lang="zh-CN" altLang="en-US" sz="1100" b="1" kern="100" dirty="0">
                <a:latin typeface="+mj-ea"/>
                <a:ea typeface="+mj-ea"/>
                <a:cs typeface="Times New Roman" panose="02020603050405020304" pitchFamily="18" charset="0"/>
              </a:rPr>
              <a:t>固收</a:t>
            </a:r>
            <a:r>
              <a:rPr lang="en-US" altLang="zh-CN" sz="1100" b="1" kern="100" dirty="0">
                <a:latin typeface="+mj-ea"/>
                <a:ea typeface="+mj-ea"/>
                <a:cs typeface="Times New Roman" panose="02020603050405020304" pitchFamily="18" charset="0"/>
              </a:rPr>
              <a:t>+</a:t>
            </a:r>
            <a:r>
              <a:rPr lang="zh-CN" altLang="en-US" sz="1100" b="1" kern="100" dirty="0">
                <a:latin typeface="+mj-ea"/>
                <a:ea typeface="+mj-ea"/>
                <a:cs typeface="Times New Roman" panose="02020603050405020304" pitchFamily="18" charset="0"/>
              </a:rPr>
              <a:t>排名情况</a:t>
            </a:r>
          </a:p>
        </p:txBody>
      </p:sp>
      <p:sp>
        <p:nvSpPr>
          <p:cNvPr id="6" name="矩形 5"/>
          <p:cNvSpPr/>
          <p:nvPr/>
        </p:nvSpPr>
        <p:spPr>
          <a:xfrm>
            <a:off x="721917" y="241828"/>
            <a:ext cx="10450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000" dirty="0"/>
              <a:t>银华固收</a:t>
            </a:r>
            <a:r>
              <a:rPr lang="en-US" altLang="zh-CN" sz="1000" dirty="0"/>
              <a:t>+</a:t>
            </a:r>
            <a:r>
              <a:rPr lang="zh-CN" altLang="zh-CN" sz="1000" dirty="0" smtClean="0"/>
              <a:t>规模</a:t>
            </a:r>
            <a:r>
              <a:rPr lang="en-US" altLang="zh-CN" sz="1000" dirty="0" smtClean="0"/>
              <a:t>55</a:t>
            </a:r>
            <a:r>
              <a:rPr lang="zh-CN" altLang="zh-CN" sz="1000" dirty="0" smtClean="0"/>
              <a:t>亿，</a:t>
            </a:r>
            <a:r>
              <a:rPr lang="zh-CN" altLang="en-US" sz="1000" dirty="0" smtClean="0"/>
              <a:t>增长</a:t>
            </a:r>
            <a:r>
              <a:rPr lang="en-US" altLang="zh-CN" sz="1000" dirty="0" smtClean="0"/>
              <a:t>28</a:t>
            </a:r>
            <a:r>
              <a:rPr lang="zh-CN" altLang="en-US" sz="1000" dirty="0" smtClean="0"/>
              <a:t>亿，主要由持营带动；银华固收</a:t>
            </a:r>
            <a:r>
              <a:rPr lang="en-US" altLang="zh-CN" sz="1000" dirty="0" smtClean="0"/>
              <a:t>+</a:t>
            </a:r>
            <a:r>
              <a:rPr lang="zh-CN" altLang="en-US" sz="1000" dirty="0" smtClean="0"/>
              <a:t>排名位列第</a:t>
            </a:r>
            <a:r>
              <a:rPr lang="en-US" altLang="zh-CN" sz="1000" dirty="0" smtClean="0"/>
              <a:t>47</a:t>
            </a:r>
            <a:r>
              <a:rPr lang="zh-CN" altLang="en-US" sz="1000" dirty="0" smtClean="0"/>
              <a:t>名，较</a:t>
            </a:r>
            <a:r>
              <a:rPr lang="en-US" altLang="zh-CN" sz="1000" dirty="0" smtClean="0"/>
              <a:t>24</a:t>
            </a:r>
            <a:r>
              <a:rPr lang="zh-CN" altLang="en-US" sz="1000" dirty="0" smtClean="0"/>
              <a:t>年底上升</a:t>
            </a:r>
            <a:r>
              <a:rPr lang="en-US" altLang="zh-CN" sz="1000" dirty="0" smtClean="0"/>
              <a:t>21</a:t>
            </a:r>
            <a:r>
              <a:rPr lang="zh-CN" altLang="en-US" sz="1000" dirty="0" smtClean="0"/>
              <a:t>名，较</a:t>
            </a:r>
            <a:r>
              <a:rPr lang="en-US" altLang="zh-CN" sz="1000" dirty="0" smtClean="0"/>
              <a:t>25Q1</a:t>
            </a:r>
            <a:r>
              <a:rPr lang="zh-CN" altLang="en-US" sz="1000" dirty="0" smtClean="0"/>
              <a:t>上升</a:t>
            </a:r>
            <a:r>
              <a:rPr lang="en-US" altLang="zh-CN" sz="1000" dirty="0" smtClean="0"/>
              <a:t>14</a:t>
            </a:r>
            <a:r>
              <a:rPr lang="zh-CN" altLang="en-US" sz="1000" dirty="0" smtClean="0"/>
              <a:t>名</a:t>
            </a:r>
            <a:r>
              <a:rPr lang="zh-CN" altLang="zh-CN" sz="1000" dirty="0" smtClean="0"/>
              <a:t>。</a:t>
            </a:r>
            <a:endParaRPr lang="en-US" altLang="zh-CN" sz="1000" dirty="0" smtClean="0"/>
          </a:p>
          <a:p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值得关注的是，固收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+Top30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公司中，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家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均实现正规模增长，主要依托于持营贡献，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且景顺、</a:t>
            </a:r>
            <a:r>
              <a:rPr lang="zh-CN" altLang="en-US" sz="1000" kern="100" dirty="0">
                <a:latin typeface="+mj-ea"/>
                <a:cs typeface="Times New Roman" panose="02020603050405020304" pitchFamily="18" charset="0"/>
              </a:rPr>
              <a:t>富国、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中欧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、中银、永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赢、兴业等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多家公司持营增长均超过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100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亿。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675" y="838146"/>
            <a:ext cx="6710363" cy="582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563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4257539" y="6555874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481983" y="504493"/>
            <a:ext cx="123142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6. FOF </a:t>
            </a:r>
            <a:r>
              <a:rPr lang="zh-CN" altLang="en-US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排名</a:t>
            </a:r>
            <a:r>
              <a:rPr lang="zh-CN" altLang="en-US" sz="1100" b="1" kern="100" dirty="0">
                <a:latin typeface="+mj-ea"/>
                <a:ea typeface="+mj-ea"/>
                <a:cs typeface="Times New Roman" panose="02020603050405020304" pitchFamily="18" charset="0"/>
              </a:rPr>
              <a:t>情况</a:t>
            </a:r>
          </a:p>
        </p:txBody>
      </p:sp>
      <p:sp>
        <p:nvSpPr>
          <p:cNvPr id="6" name="矩形 5"/>
          <p:cNvSpPr/>
          <p:nvPr/>
        </p:nvSpPr>
        <p:spPr>
          <a:xfrm>
            <a:off x="1812211" y="229337"/>
            <a:ext cx="76338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000" dirty="0"/>
              <a:t>银华</a:t>
            </a:r>
            <a:r>
              <a:rPr lang="en-US" altLang="zh-CN" sz="1000" dirty="0"/>
              <a:t>FOF</a:t>
            </a:r>
            <a:r>
              <a:rPr lang="zh-CN" altLang="zh-CN" sz="1000" dirty="0"/>
              <a:t>位列</a:t>
            </a:r>
            <a:r>
              <a:rPr lang="zh-CN" altLang="zh-CN" sz="1000" dirty="0" smtClean="0"/>
              <a:t>第</a:t>
            </a:r>
            <a:r>
              <a:rPr lang="en-US" altLang="zh-CN" sz="1000" dirty="0" smtClean="0"/>
              <a:t>19</a:t>
            </a:r>
            <a:r>
              <a:rPr lang="zh-CN" altLang="zh-CN" sz="1000" dirty="0" smtClean="0"/>
              <a:t>名</a:t>
            </a:r>
            <a:r>
              <a:rPr lang="zh-CN" altLang="zh-CN" sz="1000" dirty="0"/>
              <a:t>，较</a:t>
            </a:r>
            <a:r>
              <a:rPr lang="en-US" altLang="zh-CN" sz="1000" dirty="0" smtClean="0"/>
              <a:t>24</a:t>
            </a:r>
            <a:r>
              <a:rPr lang="zh-CN" altLang="zh-CN" sz="1000" dirty="0" smtClean="0"/>
              <a:t>年底</a:t>
            </a:r>
            <a:r>
              <a:rPr lang="zh-CN" altLang="en-US" sz="1000" dirty="0"/>
              <a:t>持平</a:t>
            </a:r>
            <a:r>
              <a:rPr lang="zh-CN" altLang="zh-CN" sz="1000" dirty="0" smtClean="0"/>
              <a:t>，</a:t>
            </a:r>
            <a:r>
              <a:rPr lang="zh-CN" altLang="en-US" sz="1000" dirty="0" smtClean="0"/>
              <a:t>规模增幅</a:t>
            </a:r>
            <a:r>
              <a:rPr lang="en-US" altLang="zh-CN" sz="1000" dirty="0" smtClean="0"/>
              <a:t>42%</a:t>
            </a:r>
            <a:r>
              <a:rPr lang="zh-CN" altLang="en-US" sz="1000" dirty="0" smtClean="0"/>
              <a:t>，</a:t>
            </a:r>
            <a:r>
              <a:rPr lang="zh-CN" altLang="zh-CN" sz="1000" dirty="0" smtClean="0"/>
              <a:t>主要</a:t>
            </a:r>
            <a:r>
              <a:rPr lang="zh-CN" altLang="en-US" sz="1000" dirty="0" smtClean="0"/>
              <a:t>由新发贡献</a:t>
            </a:r>
            <a:r>
              <a:rPr lang="zh-CN" altLang="zh-CN" sz="1000" dirty="0" smtClean="0"/>
              <a:t>。</a:t>
            </a:r>
            <a:endParaRPr lang="zh-CN" altLang="zh-CN" sz="1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467" y="766103"/>
            <a:ext cx="6477897" cy="584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040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1198</Words>
  <Application>Microsoft Office PowerPoint</Application>
  <PresentationFormat>宽屏</PresentationFormat>
  <Paragraphs>58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王潞怡</dc:creator>
  <cp:lastModifiedBy>王潞怡</cp:lastModifiedBy>
  <cp:revision>158</cp:revision>
  <cp:lastPrinted>2025-07-21T12:36:59Z</cp:lastPrinted>
  <dcterms:created xsi:type="dcterms:W3CDTF">2024-10-25T12:12:45Z</dcterms:created>
  <dcterms:modified xsi:type="dcterms:W3CDTF">2025-07-21T13:10:30Z</dcterms:modified>
</cp:coreProperties>
</file>