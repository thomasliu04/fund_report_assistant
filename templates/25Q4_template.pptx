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6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</p:sldIdLst>
  <p:sldSz cx="12192000" cy="6858000"/>
  <p:notesSz cx="6799263" cy="99298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579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2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9" d="100"/>
          <a:sy n="79" d="100"/>
        </p:scale>
        <p:origin x="396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8215"/>
          </a:xfrm>
          <a:prstGeom prst="rect">
            <a:avLst/>
          </a:prstGeom>
        </p:spPr>
        <p:txBody>
          <a:bodyPr vert="horz" lIns="95588" tIns="47794" rIns="95588" bIns="4779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1343" y="0"/>
            <a:ext cx="2946347" cy="498215"/>
          </a:xfrm>
          <a:prstGeom prst="rect">
            <a:avLst/>
          </a:prstGeom>
        </p:spPr>
        <p:txBody>
          <a:bodyPr vert="horz" lIns="95588" tIns="47794" rIns="95588" bIns="47794" rtlCol="0"/>
          <a:lstStyle>
            <a:lvl1pPr algn="r">
              <a:defRPr sz="1300"/>
            </a:lvl1pPr>
          </a:lstStyle>
          <a:p>
            <a:fld id="{ABF373F1-079A-476B-8804-4E45F7A9EBC7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6347" cy="498214"/>
          </a:xfrm>
          <a:prstGeom prst="rect">
            <a:avLst/>
          </a:prstGeom>
        </p:spPr>
        <p:txBody>
          <a:bodyPr vert="horz" lIns="95588" tIns="47794" rIns="95588" bIns="4779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1343" y="9431600"/>
            <a:ext cx="2946347" cy="498214"/>
          </a:xfrm>
          <a:prstGeom prst="rect">
            <a:avLst/>
          </a:prstGeom>
        </p:spPr>
        <p:txBody>
          <a:bodyPr vert="horz" lIns="95588" tIns="47794" rIns="95588" bIns="47794" rtlCol="0" anchor="b"/>
          <a:lstStyle>
            <a:lvl1pPr algn="r">
              <a:defRPr sz="1300"/>
            </a:lvl1pPr>
          </a:lstStyle>
          <a:p>
            <a:fld id="{467C7CA8-B913-419D-A828-AAAD63280A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96540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8215"/>
          </a:xfrm>
          <a:prstGeom prst="rect">
            <a:avLst/>
          </a:prstGeom>
        </p:spPr>
        <p:txBody>
          <a:bodyPr vert="horz" lIns="95588" tIns="47794" rIns="95588" bIns="4779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1343" y="0"/>
            <a:ext cx="2946347" cy="498215"/>
          </a:xfrm>
          <a:prstGeom prst="rect">
            <a:avLst/>
          </a:prstGeom>
        </p:spPr>
        <p:txBody>
          <a:bodyPr vert="horz" lIns="95588" tIns="47794" rIns="95588" bIns="47794" rtlCol="0"/>
          <a:lstStyle>
            <a:lvl1pPr algn="r">
              <a:defRPr sz="1300"/>
            </a:lvl1pPr>
          </a:lstStyle>
          <a:p>
            <a:fld id="{71ED8628-9FA2-47AC-8458-BC12419617EC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88" tIns="47794" rIns="95588" bIns="47794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927" y="4778722"/>
            <a:ext cx="5439410" cy="3909864"/>
          </a:xfrm>
          <a:prstGeom prst="rect">
            <a:avLst/>
          </a:prstGeom>
        </p:spPr>
        <p:txBody>
          <a:bodyPr vert="horz" lIns="95588" tIns="47794" rIns="95588" bIns="47794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6347" cy="498214"/>
          </a:xfrm>
          <a:prstGeom prst="rect">
            <a:avLst/>
          </a:prstGeom>
        </p:spPr>
        <p:txBody>
          <a:bodyPr vert="horz" lIns="95588" tIns="47794" rIns="95588" bIns="4779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1343" y="9431600"/>
            <a:ext cx="2946347" cy="498214"/>
          </a:xfrm>
          <a:prstGeom prst="rect">
            <a:avLst/>
          </a:prstGeom>
        </p:spPr>
        <p:txBody>
          <a:bodyPr vert="horz" lIns="95588" tIns="47794" rIns="95588" bIns="47794" rtlCol="0" anchor="b"/>
          <a:lstStyle>
            <a:lvl1pPr algn="r">
              <a:defRPr sz="1300"/>
            </a:lvl1pPr>
          </a:lstStyle>
          <a:p>
            <a:fld id="{2C591075-AABE-430C-A647-F11C676B6A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56807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510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3586-24C5-4CA0-9616-9F08ACE35587}" type="datetime1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6BEBB-868E-4A6E-B040-D24DC6646DF4}" type="datetime1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2380C-4711-4AA6-A495-E92CDC50B655}" type="datetime1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06E36-D0CF-46BF-BE56-B58E2D2AF0CA}" type="datetime1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9C48B-B62B-42FA-ABFD-1887DE8B5904}" type="datetime1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6EEE3-B184-449C-A732-747B29F89F88}" type="datetime1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8AA09-221E-4260-BE66-6639E5956120}" type="datetime1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7992762" y="6356349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415481" y="6361326"/>
            <a:ext cx="2743200" cy="365125"/>
          </a:xfrm>
        </p:spPr>
        <p:txBody>
          <a:bodyPr/>
          <a:lstStyle>
            <a:lvl1pPr algn="ctr">
              <a:defRPr/>
            </a:lvl1pPr>
          </a:lstStyle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425D2-29F5-48EC-A653-A309FDF17388}" type="datetime1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6C9B9-AA76-49A8-96C4-6F1DCFC0B711}" type="datetime1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E4A5-A6EC-4798-A740-14FA7B77C0C0}" type="datetime1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416E-0116-4A7E-BF92-5DD956E2919B}" type="datetime1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84E823-A138-42E7-A9DC-37685DF66AB2}" type="datetime1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552935" y="637780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590535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37308" y="419379"/>
            <a:ext cx="11192227" cy="3277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altLang="zh-CN" sz="1200" b="1" kern="100" dirty="0" smtClean="0">
                <a:latin typeface="+mn-ea"/>
                <a:cs typeface="Times New Roman" panose="02020603050405020304" pitchFamily="18" charset="0"/>
              </a:rPr>
              <a:t>2025Q4 </a:t>
            </a:r>
            <a:r>
              <a:rPr lang="zh-CN" altLang="zh-CN" sz="1200" b="1" kern="100" dirty="0" smtClean="0">
                <a:latin typeface="+mn-ea"/>
                <a:cs typeface="Times New Roman" panose="02020603050405020304" pitchFamily="18" charset="0"/>
              </a:rPr>
              <a:t>公</a:t>
            </a:r>
            <a:r>
              <a:rPr lang="zh-CN" altLang="zh-CN" sz="1200" b="1" kern="100" dirty="0">
                <a:latin typeface="+mn-ea"/>
                <a:cs typeface="Times New Roman" panose="02020603050405020304" pitchFamily="18" charset="0"/>
              </a:rPr>
              <a:t>募行业数据</a:t>
            </a:r>
            <a:r>
              <a:rPr lang="zh-CN" altLang="zh-CN" sz="1200" b="1" kern="100" dirty="0" smtClean="0">
                <a:latin typeface="+mn-ea"/>
                <a:cs typeface="Times New Roman" panose="02020603050405020304" pitchFamily="18" charset="0"/>
              </a:rPr>
              <a:t>简报</a:t>
            </a:r>
            <a:endParaRPr lang="en-US" altLang="zh-CN" sz="1200" b="1" kern="100" dirty="0" smtClean="0">
              <a:latin typeface="+mn-ea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endParaRPr lang="zh-CN" altLang="zh-CN" sz="1200" kern="100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200" b="1" kern="100" dirty="0">
                <a:latin typeface="+mn-ea"/>
                <a:cs typeface="Times New Roman" panose="02020603050405020304" pitchFamily="18" charset="0"/>
              </a:rPr>
              <a:t>如无特别注明，以下数据口径均未剔除联接，数据</a:t>
            </a:r>
            <a:r>
              <a:rPr lang="zh-CN" altLang="zh-CN" sz="1200" b="1" kern="100" dirty="0" smtClean="0">
                <a:latin typeface="+mn-ea"/>
                <a:cs typeface="Times New Roman" panose="02020603050405020304" pitchFamily="18" charset="0"/>
              </a:rPr>
              <a:t>来源</a:t>
            </a:r>
            <a:r>
              <a:rPr lang="zh-CN" altLang="en-US" sz="1200" b="1" kern="100" dirty="0" smtClean="0">
                <a:latin typeface="+mn-ea"/>
                <a:cs typeface="Times New Roman" panose="02020603050405020304" pitchFamily="18" charset="0"/>
              </a:rPr>
              <a:t>：</a:t>
            </a:r>
            <a:r>
              <a:rPr lang="en-US" altLang="zh-CN" sz="1200" b="1" kern="100" dirty="0" smtClean="0">
                <a:latin typeface="+mn-ea"/>
                <a:cs typeface="Times New Roman" panose="02020603050405020304" pitchFamily="18" charset="0"/>
              </a:rPr>
              <a:t>Wind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200" kern="100" dirty="0" smtClean="0">
                <a:latin typeface="+mn-ea"/>
                <a:cs typeface="Times New Roman" panose="02020603050405020304" pitchFamily="18" charset="0"/>
              </a:rPr>
              <a:t>一</a:t>
            </a:r>
            <a:r>
              <a:rPr lang="zh-CN" altLang="zh-CN" sz="1200" kern="100" dirty="0">
                <a:latin typeface="+mn-ea"/>
                <a:cs typeface="Times New Roman" panose="02020603050405020304" pitchFamily="18" charset="0"/>
              </a:rPr>
              <a:t>、</a:t>
            </a:r>
            <a:r>
              <a:rPr lang="en-US" altLang="zh-CN" sz="1200" b="1" kern="0" dirty="0" smtClean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2025Q4</a:t>
            </a:r>
            <a:r>
              <a:rPr lang="zh-CN" altLang="zh-CN" sz="1200" b="1" kern="0" dirty="0" smtClean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公</a:t>
            </a:r>
            <a:r>
              <a:rPr lang="zh-CN" altLang="zh-CN" sz="1200" b="1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募规模整体</a:t>
            </a:r>
            <a:r>
              <a:rPr lang="zh-CN" altLang="zh-CN" sz="1200" b="1" kern="0" dirty="0" smtClean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情况</a:t>
            </a:r>
            <a:endParaRPr lang="en-US" altLang="zh-CN" sz="1200" kern="100" dirty="0"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000" kern="100" dirty="0" smtClean="0">
                <a:latin typeface="+mn-ea"/>
                <a:cs typeface="Times New Roman" panose="02020603050405020304" pitchFamily="18" charset="0"/>
              </a:rPr>
              <a:t>截至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25</a:t>
            </a:r>
            <a:r>
              <a:rPr lang="zh-CN" altLang="zh-CN" sz="1000" kern="100" dirty="0" smtClean="0">
                <a:latin typeface="+mn-ea"/>
                <a:cs typeface="Times New Roman" panose="02020603050405020304" pitchFamily="18" charset="0"/>
              </a:rPr>
              <a:t>年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12</a:t>
            </a:r>
            <a:r>
              <a:rPr lang="zh-CN" altLang="zh-CN" sz="1000" kern="100" dirty="0" smtClean="0">
                <a:latin typeface="+mn-ea"/>
                <a:cs typeface="Times New Roman" panose="02020603050405020304" pitchFamily="18" charset="0"/>
              </a:rPr>
              <a:t>月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31</a:t>
            </a:r>
            <a:r>
              <a:rPr lang="zh-CN" altLang="zh-CN" sz="1000" kern="100" dirty="0" smtClean="0">
                <a:latin typeface="+mn-ea"/>
                <a:cs typeface="Times New Roman" panose="02020603050405020304" pitchFamily="18" charset="0"/>
              </a:rPr>
              <a:t>日</a:t>
            </a:r>
            <a:r>
              <a:rPr lang="zh-CN" altLang="zh-CN" sz="1000" kern="100" dirty="0">
                <a:latin typeface="+mn-ea"/>
                <a:cs typeface="Times New Roman" panose="02020603050405020304" pitchFamily="18" charset="0"/>
              </a:rPr>
              <a:t>，公募行业总</a:t>
            </a:r>
            <a:r>
              <a:rPr lang="zh-CN" altLang="zh-CN" sz="1000" kern="100" dirty="0" smtClean="0">
                <a:latin typeface="+mn-ea"/>
                <a:cs typeface="Times New Roman" panose="02020603050405020304" pitchFamily="18" charset="0"/>
              </a:rPr>
              <a:t>规模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37.7</a:t>
            </a:r>
            <a:r>
              <a:rPr lang="zh-CN" altLang="zh-CN" sz="1000" kern="100" dirty="0" smtClean="0">
                <a:latin typeface="+mn-ea"/>
                <a:cs typeface="Times New Roman" panose="02020603050405020304" pitchFamily="18" charset="0"/>
              </a:rPr>
              <a:t>万亿（</a:t>
            </a:r>
            <a:r>
              <a:rPr lang="zh-CN" altLang="en-US" sz="1000" kern="100" dirty="0">
                <a:latin typeface="+mn-ea"/>
                <a:cs typeface="Times New Roman" panose="02020603050405020304" pitchFamily="18" charset="0"/>
              </a:rPr>
              <a:t>行业</a:t>
            </a:r>
            <a:r>
              <a:rPr lang="zh-CN" altLang="zh-CN" sz="1000" kern="100" dirty="0" smtClean="0">
                <a:latin typeface="+mn-ea"/>
                <a:cs typeface="Times New Roman" panose="02020603050405020304" pitchFamily="18" charset="0"/>
              </a:rPr>
              <a:t>增速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15% vs 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银华增速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22%</a:t>
            </a:r>
            <a:r>
              <a:rPr lang="zh-CN" altLang="zh-CN" sz="1000" kern="100" dirty="0" smtClean="0">
                <a:latin typeface="+mn-ea"/>
                <a:cs typeface="Times New Roman" panose="02020603050405020304" pitchFamily="18" charset="0"/>
              </a:rPr>
              <a:t>），</a:t>
            </a:r>
            <a:r>
              <a:rPr lang="zh-CN" altLang="zh-CN" sz="1000" kern="100" dirty="0">
                <a:latin typeface="+mn-ea"/>
                <a:cs typeface="Times New Roman" panose="02020603050405020304" pitchFamily="18" charset="0"/>
              </a:rPr>
              <a:t>非</a:t>
            </a:r>
            <a:r>
              <a:rPr lang="zh-CN" altLang="zh-CN" sz="1000" kern="100" dirty="0" smtClean="0">
                <a:latin typeface="+mn-ea"/>
                <a:cs typeface="Times New Roman" panose="02020603050405020304" pitchFamily="18" charset="0"/>
              </a:rPr>
              <a:t>货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22.7</a:t>
            </a:r>
            <a:r>
              <a:rPr lang="zh-CN" altLang="zh-CN" sz="1000" kern="100" dirty="0" smtClean="0">
                <a:latin typeface="+mn-ea"/>
                <a:cs typeface="Times New Roman" panose="02020603050405020304" pitchFamily="18" charset="0"/>
              </a:rPr>
              <a:t>万亿（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行业</a:t>
            </a:r>
            <a:r>
              <a:rPr lang="zh-CN" altLang="zh-CN" sz="1000" kern="100" dirty="0" smtClean="0">
                <a:latin typeface="+mn-ea"/>
                <a:cs typeface="Times New Roman" panose="02020603050405020304" pitchFamily="18" charset="0"/>
              </a:rPr>
              <a:t>增速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18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% vs 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银华增速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25%</a:t>
            </a:r>
            <a:r>
              <a:rPr lang="zh-CN" altLang="zh-CN" sz="1000" kern="100" dirty="0" smtClean="0">
                <a:latin typeface="+mn-ea"/>
                <a:cs typeface="Times New Roman" panose="02020603050405020304" pitchFamily="18" charset="0"/>
              </a:rPr>
              <a:t>）。</a:t>
            </a:r>
            <a:endParaRPr lang="en-US" altLang="zh-CN" sz="1000" kern="100" dirty="0" smtClean="0"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25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年</a:t>
            </a:r>
            <a:r>
              <a:rPr lang="zh-CN" altLang="zh-CN" sz="1000" kern="100" dirty="0" smtClean="0">
                <a:latin typeface="+mn-ea"/>
                <a:cs typeface="Times New Roman" panose="02020603050405020304" pitchFamily="18" charset="0"/>
              </a:rPr>
              <a:t>规模</a:t>
            </a:r>
            <a:r>
              <a:rPr lang="zh-CN" altLang="zh-CN" sz="1000" kern="100" dirty="0">
                <a:latin typeface="+mn-ea"/>
                <a:cs typeface="Times New Roman" panose="02020603050405020304" pitchFamily="18" charset="0"/>
              </a:rPr>
              <a:t>增速较快的品类</a:t>
            </a:r>
            <a:r>
              <a:rPr lang="zh-CN" altLang="zh-CN" sz="1000" kern="100" dirty="0" smtClean="0">
                <a:latin typeface="+mn-ea"/>
                <a:cs typeface="Times New Roman" panose="02020603050405020304" pitchFamily="18" charset="0"/>
              </a:rPr>
              <a:t>：</a:t>
            </a:r>
            <a:endParaRPr lang="en-US" altLang="zh-CN" sz="1000" kern="100" dirty="0" smtClean="0"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1</a:t>
            </a:r>
            <a:r>
              <a:rPr lang="zh-CN" altLang="zh-CN" sz="1000" kern="100" dirty="0" smtClean="0">
                <a:latin typeface="+mn-ea"/>
                <a:cs typeface="Times New Roman" panose="02020603050405020304" pitchFamily="18" charset="0"/>
              </a:rPr>
              <a:t>、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FOF</a:t>
            </a:r>
            <a:r>
              <a:rPr lang="zh-CN" altLang="zh-CN" sz="1000" kern="100" dirty="0" smtClean="0">
                <a:latin typeface="+mn-ea"/>
                <a:cs typeface="Times New Roman" panose="02020603050405020304" pitchFamily="18" charset="0"/>
              </a:rPr>
              <a:t>增速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83%</a:t>
            </a:r>
            <a:r>
              <a:rPr lang="zh-CN" altLang="zh-CN" sz="1000" kern="100" dirty="0">
                <a:latin typeface="+mn-ea"/>
                <a:cs typeface="Times New Roman" panose="02020603050405020304" pitchFamily="18" charset="0"/>
              </a:rPr>
              <a:t>，</a:t>
            </a:r>
            <a:r>
              <a:rPr lang="zh-CN" altLang="zh-CN" sz="1000" kern="100" dirty="0" smtClean="0">
                <a:latin typeface="+mn-ea"/>
                <a:cs typeface="Times New Roman" panose="02020603050405020304" pitchFamily="18" charset="0"/>
              </a:rPr>
              <a:t>增量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1109</a:t>
            </a:r>
            <a:r>
              <a:rPr lang="zh-CN" altLang="zh-CN" sz="1000" kern="100" dirty="0" smtClean="0">
                <a:latin typeface="+mn-ea"/>
                <a:cs typeface="Times New Roman" panose="02020603050405020304" pitchFamily="18" charset="0"/>
              </a:rPr>
              <a:t>亿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，新发增量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845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亿，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占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增量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76%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。</a:t>
            </a:r>
            <a:endParaRPr lang="en-US" altLang="zh-CN" sz="1000" kern="100" dirty="0"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2</a:t>
            </a:r>
            <a:r>
              <a:rPr lang="zh-CN" altLang="zh-CN" sz="1000" kern="100" dirty="0" smtClean="0">
                <a:latin typeface="+mn-ea"/>
                <a:cs typeface="Times New Roman" panose="02020603050405020304" pitchFamily="18" charset="0"/>
              </a:rPr>
              <a:t>、</a:t>
            </a:r>
            <a:r>
              <a:rPr lang="zh-CN" altLang="en-US" sz="1000" kern="100" dirty="0">
                <a:latin typeface="+mn-ea"/>
                <a:cs typeface="Times New Roman" panose="02020603050405020304" pitchFamily="18" charset="0"/>
              </a:rPr>
              <a:t>固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收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+</a:t>
            </a:r>
            <a:r>
              <a:rPr lang="zh-CN" altLang="zh-CN" sz="1000" kern="100" dirty="0" smtClean="0">
                <a:latin typeface="+mn-ea"/>
                <a:cs typeface="Times New Roman" panose="02020603050405020304" pitchFamily="18" charset="0"/>
              </a:rPr>
              <a:t>增速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78%</a:t>
            </a:r>
            <a:r>
              <a:rPr lang="zh-CN" altLang="zh-CN" sz="1000" kern="100" dirty="0">
                <a:latin typeface="+mn-ea"/>
                <a:cs typeface="Times New Roman" panose="02020603050405020304" pitchFamily="18" charset="0"/>
              </a:rPr>
              <a:t>，</a:t>
            </a:r>
            <a:r>
              <a:rPr lang="zh-CN" altLang="zh-CN" sz="1000" kern="100" dirty="0" smtClean="0">
                <a:latin typeface="+mn-ea"/>
                <a:cs typeface="Times New Roman" panose="02020603050405020304" pitchFamily="18" charset="0"/>
              </a:rPr>
              <a:t>增量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1.1</a:t>
            </a:r>
            <a:r>
              <a:rPr lang="zh-CN" altLang="zh-CN" sz="1000" kern="100" dirty="0" smtClean="0">
                <a:latin typeface="+mn-ea"/>
                <a:cs typeface="Times New Roman" panose="02020603050405020304" pitchFamily="18" charset="0"/>
              </a:rPr>
              <a:t>万亿，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25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年下半年权益市场回暖后，持营增长近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9000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亿</a:t>
            </a:r>
            <a:r>
              <a:rPr lang="zh-CN" altLang="zh-CN" sz="1000" kern="100" dirty="0" smtClean="0">
                <a:latin typeface="+mn-ea"/>
                <a:cs typeface="Times New Roman" panose="02020603050405020304" pitchFamily="18" charset="0"/>
              </a:rPr>
              <a:t>。</a:t>
            </a:r>
            <a:endParaRPr lang="en-US" altLang="zh-CN" sz="1000" kern="100" dirty="0"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3</a:t>
            </a:r>
            <a:r>
              <a:rPr lang="zh-CN" altLang="zh-CN" sz="1000" kern="100" dirty="0" smtClean="0">
                <a:latin typeface="+mn-ea"/>
                <a:cs typeface="Times New Roman" panose="02020603050405020304" pitchFamily="18" charset="0"/>
              </a:rPr>
              <a:t>、</a:t>
            </a:r>
            <a:r>
              <a:rPr lang="zh-CN" altLang="en-US" sz="1000" kern="100" dirty="0">
                <a:latin typeface="+mn-ea"/>
                <a:cs typeface="Times New Roman" panose="02020603050405020304" pitchFamily="18" charset="0"/>
              </a:rPr>
              <a:t>被动权益</a:t>
            </a:r>
            <a:r>
              <a:rPr lang="zh-CN" altLang="zh-CN" sz="1000" kern="100" dirty="0" smtClean="0">
                <a:latin typeface="+mn-ea"/>
                <a:cs typeface="Times New Roman" panose="02020603050405020304" pitchFamily="18" charset="0"/>
              </a:rPr>
              <a:t>增速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41%</a:t>
            </a:r>
            <a:r>
              <a:rPr lang="zh-CN" altLang="zh-CN" sz="1000" kern="100" dirty="0">
                <a:latin typeface="+mn-ea"/>
                <a:cs typeface="Times New Roman" panose="02020603050405020304" pitchFamily="18" charset="0"/>
              </a:rPr>
              <a:t>，</a:t>
            </a:r>
            <a:r>
              <a:rPr lang="zh-CN" altLang="zh-CN" sz="1000" kern="100" dirty="0" smtClean="0">
                <a:latin typeface="+mn-ea"/>
                <a:cs typeface="Times New Roman" panose="02020603050405020304" pitchFamily="18" charset="0"/>
              </a:rPr>
              <a:t>增量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1.8</a:t>
            </a:r>
            <a:r>
              <a:rPr lang="zh-CN" altLang="zh-CN" sz="1000" kern="100" dirty="0" smtClean="0">
                <a:latin typeface="+mn-ea"/>
                <a:cs typeface="Times New Roman" panose="02020603050405020304" pitchFamily="18" charset="0"/>
              </a:rPr>
              <a:t>万亿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，主要源于偏牛市场行情下，净值贡献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1.2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万亿，占增量的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65%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。</a:t>
            </a:r>
            <a:endParaRPr lang="en-US" altLang="zh-CN" sz="1000" kern="100" dirty="0" smtClean="0"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4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、主动权益增速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17%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，增量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5907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亿，其中净值增长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1.1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万亿，但客户净赎回近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7000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亿元。</a:t>
            </a:r>
            <a:endParaRPr lang="en-US" altLang="zh-CN" sz="1000" kern="100" dirty="0" smtClean="0"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5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、货币增速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10%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，增量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1.4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万亿。</a:t>
            </a:r>
            <a:endParaRPr lang="en-US" altLang="zh-CN" sz="1000" kern="100" dirty="0" smtClean="0"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1000" kern="100" dirty="0" smtClean="0"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25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年全年，固收规模减少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5250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亿，增速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-6%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。其中，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25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年全市场新发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24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只科创债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ETF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合计规模增长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3553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亿元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。</a:t>
            </a:r>
            <a:endParaRPr lang="en-US" altLang="zh-CN" sz="1000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pPr algn="ctr"/>
            <a:fld id="{565CE74E-AB26-4998-AD42-012C4C1AD076}" type="slidenum">
              <a:rPr lang="zh-CN" altLang="en-US" smtClean="0"/>
              <a:pPr algn="ctr"/>
              <a:t>1</a:t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349259" y="6448482"/>
            <a:ext cx="21668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000" kern="100" dirty="0">
                <a:latin typeface="+mj-ea"/>
                <a:ea typeface="+mj-ea"/>
                <a:cs typeface="Times New Roman" panose="02020603050405020304" pitchFamily="18" charset="0"/>
              </a:rPr>
              <a:t>注：</a:t>
            </a:r>
            <a:r>
              <a:rPr lang="en-US" altLang="zh-CN" sz="1000" kern="100" dirty="0">
                <a:latin typeface="+mj-ea"/>
                <a:ea typeface="+mj-ea"/>
                <a:cs typeface="Times New Roman" panose="02020603050405020304" pitchFamily="18" charset="0"/>
              </a:rPr>
              <a:t>REITs</a:t>
            </a:r>
            <a:r>
              <a:rPr lang="zh-CN" altLang="zh-CN" sz="1000" kern="100" dirty="0">
                <a:latin typeface="+mj-ea"/>
                <a:ea typeface="+mj-ea"/>
                <a:cs typeface="Times New Roman" panose="02020603050405020304" pitchFamily="18" charset="0"/>
              </a:rPr>
              <a:t>和另类基金未在表中注明</a:t>
            </a:r>
            <a:endParaRPr lang="zh-CN" altLang="en-US" sz="1000" kern="1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07" y="3881004"/>
            <a:ext cx="10210254" cy="242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745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448800" y="6495342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70807" y="235782"/>
            <a:ext cx="9770226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200" b="1" kern="100" dirty="0">
                <a:latin typeface="+mn-ea"/>
                <a:cs typeface="Times New Roman" panose="02020603050405020304" pitchFamily="18" charset="0"/>
              </a:rPr>
              <a:t> 二、</a:t>
            </a:r>
            <a:r>
              <a:rPr lang="en-US" altLang="zh-CN" sz="1200" b="1" kern="100" dirty="0" smtClean="0">
                <a:latin typeface="+mn-ea"/>
                <a:cs typeface="Times New Roman" panose="02020603050405020304" pitchFamily="18" charset="0"/>
              </a:rPr>
              <a:t>2025Q4</a:t>
            </a:r>
            <a:r>
              <a:rPr lang="zh-CN" altLang="zh-CN" sz="1200" b="1" kern="100" dirty="0" smtClean="0">
                <a:latin typeface="+mn-ea"/>
                <a:cs typeface="Times New Roman" panose="02020603050405020304" pitchFamily="18" charset="0"/>
              </a:rPr>
              <a:t>公</a:t>
            </a:r>
            <a:r>
              <a:rPr lang="zh-CN" altLang="zh-CN" sz="1200" b="1" kern="100" dirty="0">
                <a:latin typeface="+mn-ea"/>
                <a:cs typeface="Times New Roman" panose="02020603050405020304" pitchFamily="18" charset="0"/>
              </a:rPr>
              <a:t>募基金</a:t>
            </a:r>
            <a:r>
              <a:rPr lang="zh-CN" altLang="zh-CN" sz="1200" b="1" kern="100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总规模（含货币）</a:t>
            </a:r>
            <a:r>
              <a:rPr lang="zh-CN" altLang="zh-CN" sz="1200" b="1" kern="100" dirty="0" smtClean="0">
                <a:latin typeface="+mn-ea"/>
                <a:cs typeface="Times New Roman" panose="02020603050405020304" pitchFamily="18" charset="0"/>
              </a:rPr>
              <a:t>排名</a:t>
            </a:r>
            <a:endParaRPr lang="en-US" altLang="zh-CN" sz="1200" kern="100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000" kern="100" dirty="0" smtClean="0">
                <a:latin typeface="+mn-ea"/>
                <a:cs typeface="Times New Roman" panose="02020603050405020304" pitchFamily="18" charset="0"/>
              </a:rPr>
              <a:t>总</a:t>
            </a:r>
            <a:r>
              <a:rPr lang="zh-CN" altLang="zh-CN" sz="1000" kern="100" dirty="0">
                <a:latin typeface="+mn-ea"/>
                <a:cs typeface="Times New Roman" panose="02020603050405020304" pitchFamily="18" charset="0"/>
              </a:rPr>
              <a:t>规模</a:t>
            </a:r>
            <a:r>
              <a:rPr lang="en-US" altLang="zh-CN" sz="1000" kern="100" dirty="0">
                <a:latin typeface="+mn-ea"/>
                <a:cs typeface="Times New Roman" panose="02020603050405020304" pitchFamily="18" charset="0"/>
              </a:rPr>
              <a:t>Top30</a:t>
            </a:r>
            <a:r>
              <a:rPr lang="zh-CN" altLang="zh-CN" sz="1000" kern="100" dirty="0">
                <a:latin typeface="+mn-ea"/>
                <a:cs typeface="Times New Roman" panose="02020603050405020304" pitchFamily="18" charset="0"/>
              </a:rPr>
              <a:t>公司</a:t>
            </a:r>
            <a:r>
              <a:rPr lang="zh-CN" altLang="zh-CN" sz="1000" kern="100" dirty="0" smtClean="0">
                <a:latin typeface="+mn-ea"/>
                <a:cs typeface="Times New Roman" panose="02020603050405020304" pitchFamily="18" charset="0"/>
              </a:rPr>
              <a:t>，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景顺、中欧各上升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3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名，富国上升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2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名，其余公司位次变化并不明显</a:t>
            </a:r>
            <a:r>
              <a:rPr lang="zh-CN" altLang="zh-CN" sz="1000" kern="100" dirty="0" smtClean="0">
                <a:latin typeface="+mn-ea"/>
                <a:cs typeface="Times New Roman" panose="02020603050405020304" pitchFamily="18" charset="0"/>
              </a:rPr>
              <a:t>。</a:t>
            </a:r>
            <a:endParaRPr lang="en-US" altLang="zh-CN" sz="1000" kern="100" dirty="0" smtClean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银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华</a:t>
            </a:r>
            <a:r>
              <a:rPr lang="zh-CN" altLang="zh-CN" sz="1000" kern="100" dirty="0" smtClean="0">
                <a:latin typeface="+mn-ea"/>
                <a:cs typeface="Times New Roman" panose="02020603050405020304" pitchFamily="18" charset="0"/>
              </a:rPr>
              <a:t>总</a:t>
            </a:r>
            <a:r>
              <a:rPr lang="zh-CN" altLang="zh-CN" sz="1000" kern="100" dirty="0">
                <a:latin typeface="+mn-ea"/>
                <a:cs typeface="Times New Roman" panose="02020603050405020304" pitchFamily="18" charset="0"/>
              </a:rPr>
              <a:t>规模</a:t>
            </a:r>
            <a:r>
              <a:rPr lang="zh-CN" altLang="zh-CN" sz="1000" kern="100" dirty="0" smtClean="0">
                <a:latin typeface="+mn-ea"/>
                <a:cs typeface="Times New Roman" panose="02020603050405020304" pitchFamily="18" charset="0"/>
              </a:rPr>
              <a:t>排名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22</a:t>
            </a:r>
            <a:r>
              <a:rPr lang="zh-CN" altLang="zh-CN" sz="1000" kern="100" dirty="0" smtClean="0">
                <a:latin typeface="+mn-ea"/>
                <a:cs typeface="Times New Roman" panose="02020603050405020304" pitchFamily="18" charset="0"/>
              </a:rPr>
              <a:t>，较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24</a:t>
            </a:r>
            <a:r>
              <a:rPr lang="zh-CN" altLang="zh-CN" sz="1000" kern="100" dirty="0" smtClean="0">
                <a:latin typeface="+mn-ea"/>
                <a:cs typeface="Times New Roman" panose="02020603050405020304" pitchFamily="18" charset="0"/>
              </a:rPr>
              <a:t>年底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排名不变，</a:t>
            </a:r>
            <a:r>
              <a:rPr lang="zh-CN" altLang="zh-CN" sz="1000" kern="100" dirty="0" smtClean="0">
                <a:latin typeface="+mn-ea"/>
                <a:cs typeface="Times New Roman" panose="02020603050405020304" pitchFamily="18" charset="0"/>
              </a:rPr>
              <a:t>较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25Q3</a:t>
            </a:r>
            <a:r>
              <a:rPr lang="zh-CN" altLang="zh-CN" sz="1000" kern="100" dirty="0" smtClean="0">
                <a:latin typeface="+mn-ea"/>
                <a:cs typeface="Times New Roman" panose="02020603050405020304" pitchFamily="18" charset="0"/>
              </a:rPr>
              <a:t>季度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上升</a:t>
            </a:r>
            <a:r>
              <a:rPr lang="en-US" altLang="zh-CN" sz="1000" kern="100" dirty="0">
                <a:latin typeface="+mn-ea"/>
                <a:cs typeface="Times New Roman" panose="02020603050405020304" pitchFamily="18" charset="0"/>
              </a:rPr>
              <a:t>1</a:t>
            </a:r>
            <a:r>
              <a:rPr lang="zh-CN" altLang="zh-CN" sz="1000" kern="100" dirty="0" smtClean="0">
                <a:latin typeface="+mn-ea"/>
                <a:cs typeface="Times New Roman" panose="02020603050405020304" pitchFamily="18" charset="0"/>
              </a:rPr>
              <a:t>名。</a:t>
            </a:r>
            <a:endParaRPr lang="en-US" altLang="zh-CN" sz="1000" kern="100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银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华总</a:t>
            </a:r>
            <a:r>
              <a:rPr lang="zh-CN" altLang="en-US" sz="1000" kern="100" dirty="0">
                <a:latin typeface="+mn-ea"/>
                <a:cs typeface="Times New Roman" panose="02020603050405020304" pitchFamily="18" charset="0"/>
              </a:rPr>
              <a:t>规模全年增速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为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22%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，在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Top30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公司中位列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第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11</a:t>
            </a:r>
            <a:r>
              <a:rPr lang="zh-CN" altLang="en-US" sz="1000" kern="100" dirty="0">
                <a:latin typeface="+mn-ea"/>
                <a:cs typeface="Times New Roman" panose="02020603050405020304" pitchFamily="18" charset="0"/>
              </a:rPr>
              <a:t>；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Q4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单季度增速达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7%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，在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Top30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公司中位列第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2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名，仅次于兴业（</a:t>
            </a:r>
            <a:r>
              <a:rPr lang="en-US" altLang="zh-CN" sz="1000" kern="100" dirty="0" smtClean="0">
                <a:latin typeface="+mn-ea"/>
                <a:cs typeface="Times New Roman" panose="02020603050405020304" pitchFamily="18" charset="0"/>
              </a:rPr>
              <a:t>8%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）</a:t>
            </a:r>
            <a:r>
              <a:rPr lang="zh-CN" altLang="en-US" sz="1000" kern="100" dirty="0" smtClean="0">
                <a:latin typeface="+mn-ea"/>
                <a:cs typeface="Times New Roman" panose="02020603050405020304" pitchFamily="18" charset="0"/>
              </a:rPr>
              <a:t>。</a:t>
            </a:r>
            <a:endParaRPr lang="zh-CN" altLang="zh-CN" sz="1000" kern="100" dirty="0">
              <a:effectLst/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07" y="1297611"/>
            <a:ext cx="9373379" cy="5400072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0267188" y="6066995"/>
            <a:ext cx="1601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 smtClean="0"/>
              <a:t>注：被动权益</a:t>
            </a:r>
            <a:r>
              <a:rPr lang="en-US" altLang="zh-CN" sz="900" dirty="0" smtClean="0"/>
              <a:t>=ETF+</a:t>
            </a:r>
            <a:r>
              <a:rPr lang="zh-CN" altLang="en-US" sz="900" dirty="0" smtClean="0"/>
              <a:t>联接</a:t>
            </a:r>
            <a:r>
              <a:rPr lang="en-US" altLang="zh-CN" sz="900" dirty="0" smtClean="0"/>
              <a:t>+</a:t>
            </a:r>
            <a:r>
              <a:rPr lang="zh-CN" altLang="en-US" sz="900" dirty="0" smtClean="0"/>
              <a:t>场外普通指数</a:t>
            </a:r>
            <a:r>
              <a:rPr lang="en-US" altLang="zh-CN" sz="900" dirty="0" smtClean="0"/>
              <a:t>+</a:t>
            </a:r>
            <a:r>
              <a:rPr lang="zh-CN" altLang="en-US" sz="900" dirty="0" smtClean="0"/>
              <a:t>场外指数增强</a:t>
            </a:r>
            <a:endParaRPr lang="zh-CN" altLang="en-US" sz="900" dirty="0"/>
          </a:p>
        </p:txBody>
      </p:sp>
    </p:spTree>
    <p:extLst>
      <p:ext uri="{BB962C8B-B14F-4D97-AF65-F5344CB8AC3E}">
        <p14:creationId xmlns:p14="http://schemas.microsoft.com/office/powerpoint/2010/main" val="3106496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418320" y="6492875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673367" y="285958"/>
            <a:ext cx="111726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三</a:t>
            </a:r>
            <a:r>
              <a:rPr lang="zh-CN" altLang="en-US" sz="1200" b="1" kern="100" dirty="0">
                <a:latin typeface="+mj-ea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CN" sz="12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2025Q4</a:t>
            </a:r>
            <a:r>
              <a:rPr lang="zh-CN" altLang="en-US" sz="12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公</a:t>
            </a:r>
            <a:r>
              <a:rPr lang="zh-CN" altLang="en-US" sz="1200" b="1" kern="100" dirty="0">
                <a:latin typeface="+mj-ea"/>
                <a:ea typeface="+mj-ea"/>
                <a:cs typeface="Times New Roman" panose="02020603050405020304" pitchFamily="18" charset="0"/>
              </a:rPr>
              <a:t>募基金</a:t>
            </a:r>
            <a:r>
              <a:rPr lang="zh-CN" altLang="en-US" sz="1200" b="1" kern="100" dirty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非货</a:t>
            </a:r>
            <a:r>
              <a:rPr lang="zh-CN" altLang="en-US" sz="1200" b="1" kern="100" dirty="0">
                <a:latin typeface="+mj-ea"/>
                <a:ea typeface="+mj-ea"/>
                <a:cs typeface="Times New Roman" panose="02020603050405020304" pitchFamily="18" charset="0"/>
              </a:rPr>
              <a:t>规模</a:t>
            </a:r>
            <a:r>
              <a:rPr lang="zh-CN" altLang="en-US" sz="12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排名</a:t>
            </a:r>
            <a:endParaRPr lang="en-US" altLang="zh-CN" sz="1200" b="1" kern="100" dirty="0" smtClean="0">
              <a:latin typeface="+mj-ea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非</a:t>
            </a: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货规模方面，银华位列第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20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位</a:t>
            </a: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，相较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24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年底上升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3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名，较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25Q3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上升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名，非货排名显著提升，重回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Top20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行列。 </a:t>
            </a:r>
            <a:endParaRPr lang="en-US" altLang="zh-CN" sz="10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银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华非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货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25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年全年增长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620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亿，增速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25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%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，高于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T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op30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公司（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18%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）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；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Q4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增量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265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亿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，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增速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9%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，高于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Top30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公司（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3%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）。</a:t>
            </a:r>
            <a:endParaRPr lang="en-US" altLang="zh-CN" sz="1000" kern="100" dirty="0" smtClean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227" y="1178012"/>
            <a:ext cx="10746116" cy="544521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73367" y="6654842"/>
            <a:ext cx="36409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 smtClean="0"/>
              <a:t>注：被动权益</a:t>
            </a:r>
            <a:r>
              <a:rPr lang="en-US" altLang="zh-CN" sz="900" dirty="0" smtClean="0"/>
              <a:t>=ETF+</a:t>
            </a:r>
            <a:r>
              <a:rPr lang="zh-CN" altLang="en-US" sz="900" dirty="0" smtClean="0"/>
              <a:t>联接</a:t>
            </a:r>
            <a:r>
              <a:rPr lang="en-US" altLang="zh-CN" sz="900" dirty="0" smtClean="0"/>
              <a:t>+</a:t>
            </a:r>
            <a:r>
              <a:rPr lang="zh-CN" altLang="en-US" sz="900" dirty="0" smtClean="0"/>
              <a:t>场外普通指数</a:t>
            </a:r>
            <a:r>
              <a:rPr lang="en-US" altLang="zh-CN" sz="900" dirty="0" smtClean="0"/>
              <a:t>+</a:t>
            </a:r>
            <a:r>
              <a:rPr lang="zh-CN" altLang="en-US" sz="900" dirty="0" smtClean="0"/>
              <a:t>场外指数增强</a:t>
            </a:r>
            <a:endParaRPr lang="zh-CN" altLang="en-US" sz="900" dirty="0"/>
          </a:p>
        </p:txBody>
      </p:sp>
    </p:spTree>
    <p:extLst>
      <p:ext uri="{BB962C8B-B14F-4D97-AF65-F5344CB8AC3E}">
        <p14:creationId xmlns:p14="http://schemas.microsoft.com/office/powerpoint/2010/main" val="2423706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673368" y="227021"/>
            <a:ext cx="74842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四</a:t>
            </a:r>
            <a:r>
              <a:rPr lang="zh-CN" altLang="en-US" sz="1200" b="1" kern="100" dirty="0">
                <a:latin typeface="+mj-ea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CN" sz="12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2025Q4</a:t>
            </a:r>
            <a:r>
              <a:rPr lang="zh-CN" altLang="en-US" sz="1200" b="1" kern="100" dirty="0" smtClean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非</a:t>
            </a:r>
            <a:r>
              <a:rPr lang="zh-CN" altLang="en-US" sz="1200" b="1" kern="100" dirty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货增量</a:t>
            </a:r>
            <a:r>
              <a:rPr lang="zh-CN" altLang="en-US" sz="1200" b="1" kern="100" dirty="0">
                <a:latin typeface="+mj-ea"/>
                <a:ea typeface="+mj-ea"/>
                <a:cs typeface="Times New Roman" panose="02020603050405020304" pitchFamily="18" charset="0"/>
              </a:rPr>
              <a:t>情况概览 </a:t>
            </a:r>
            <a:endParaRPr lang="en-US" altLang="zh-CN" sz="1200" b="1" kern="100" dirty="0" smtClean="0">
              <a:latin typeface="+mj-ea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银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华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25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年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非</a:t>
            </a: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货增量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为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620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亿</a:t>
            </a: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，在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全行业排名第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18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；</a:t>
            </a:r>
            <a:r>
              <a:rPr lang="en-US" altLang="zh-CN" sz="1000" kern="100" dirty="0">
                <a:latin typeface="+mj-ea"/>
                <a:ea typeface="+mj-ea"/>
                <a:cs typeface="Times New Roman" panose="02020603050405020304" pitchFamily="18" charset="0"/>
              </a:rPr>
              <a:t>4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季度</a:t>
            </a: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，非货增量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为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265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亿</a:t>
            </a: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，在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全行业排名第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11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名。</a:t>
            </a:r>
            <a:endParaRPr lang="en-US" altLang="zh-CN" sz="1000" kern="100" dirty="0" smtClean="0">
              <a:latin typeface="+mj-ea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固收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+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、被动权益、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FOF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的全年增量排名靠前，分别为第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13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名、第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16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名和第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18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名。</a:t>
            </a:r>
            <a:endParaRPr lang="zh-CN" altLang="en-US" sz="1000" kern="1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508" y="1061861"/>
            <a:ext cx="8478870" cy="5613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08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448800" y="6484972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728673" y="220239"/>
            <a:ext cx="8548255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五</a:t>
            </a:r>
            <a:r>
              <a:rPr lang="zh-CN" altLang="en-US" sz="1200" b="1" kern="100" dirty="0">
                <a:latin typeface="+mj-ea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CN" sz="12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2025Q4</a:t>
            </a:r>
            <a:r>
              <a:rPr lang="zh-CN" altLang="en-US" sz="12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各项</a:t>
            </a:r>
            <a:r>
              <a:rPr lang="zh-CN" altLang="en-US" sz="1200" b="1" kern="100" dirty="0">
                <a:latin typeface="+mj-ea"/>
                <a:ea typeface="+mj-ea"/>
                <a:cs typeface="Times New Roman" panose="02020603050405020304" pitchFamily="18" charset="0"/>
              </a:rPr>
              <a:t>业务排名</a:t>
            </a:r>
            <a:r>
              <a:rPr lang="zh-CN" altLang="en-US" sz="12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情况</a:t>
            </a:r>
            <a:endParaRPr lang="en-US" altLang="zh-CN" sz="1200" b="1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00" b="1" kern="100" dirty="0" smtClean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主动权益：</a:t>
            </a:r>
            <a:endParaRPr lang="en-US" altLang="zh-CN" sz="1000" b="1" kern="100" dirty="0" smtClean="0">
              <a:solidFill>
                <a:srgbClr val="C0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主动</a:t>
            </a: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权益</a:t>
            </a:r>
            <a:r>
              <a:rPr lang="en-US" altLang="zh-CN" sz="1000" kern="100" dirty="0">
                <a:latin typeface="+mj-ea"/>
                <a:ea typeface="+mj-ea"/>
                <a:cs typeface="Times New Roman" panose="02020603050405020304" pitchFamily="18" charset="0"/>
              </a:rPr>
              <a:t>Top30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公司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中，永赢全年增长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975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亿，增速达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579%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，主要源于持营；中欧、易方达、富国也实现了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300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亿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+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的规模增长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。</a:t>
            </a:r>
            <a:endParaRPr lang="en-US" altLang="zh-CN" sz="10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银</a:t>
            </a: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华主动权益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排名第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18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名，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较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24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年末下降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名。全年规模增长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25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亿至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738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亿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，其中净值贡献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186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亿元，但全年净赎回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192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亿元，对规模影响显著。</a:t>
            </a:r>
            <a:endParaRPr lang="zh-CN" altLang="en-US" sz="1000" kern="1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773360" y="1282068"/>
            <a:ext cx="115608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00" b="1" kern="100" dirty="0">
                <a:latin typeface="+mj-ea"/>
                <a:ea typeface="+mj-ea"/>
                <a:cs typeface="Times New Roman" panose="02020603050405020304" pitchFamily="18" charset="0"/>
              </a:rPr>
              <a:t>1 </a:t>
            </a:r>
            <a:r>
              <a:rPr lang="zh-CN" altLang="zh-CN" sz="1100" b="1" kern="100" dirty="0">
                <a:latin typeface="+mj-ea"/>
                <a:ea typeface="+mj-ea"/>
                <a:cs typeface="Times New Roman" panose="02020603050405020304" pitchFamily="18" charset="0"/>
              </a:rPr>
              <a:t>主动权益排名</a:t>
            </a:r>
            <a:endParaRPr lang="zh-CN" altLang="en-US" sz="1100" b="1" kern="1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14" y="1543678"/>
            <a:ext cx="6553576" cy="523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929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1056979" y="6492875"/>
            <a:ext cx="1135021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29066" y="501638"/>
            <a:ext cx="1176293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1000" b="1" kern="100" dirty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非货</a:t>
            </a:r>
            <a:r>
              <a:rPr lang="en-US" altLang="zh-CN" sz="1000" b="1" kern="100" dirty="0" smtClean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ETF</a:t>
            </a:r>
            <a:r>
              <a:rPr lang="zh-CN" altLang="en-US" sz="1000" b="1" kern="100" dirty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（含联接</a:t>
            </a:r>
            <a:r>
              <a:rPr lang="zh-CN" altLang="en-US" sz="1000" b="1" kern="100" dirty="0" smtClean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）：</a:t>
            </a:r>
            <a:r>
              <a:rPr lang="zh-CN" altLang="en-US" sz="1000" kern="100" dirty="0" smtClean="0">
                <a:latin typeface="+mj-ea"/>
                <a:cs typeface="Times New Roman" panose="02020603050405020304" pitchFamily="18" charset="0"/>
              </a:rPr>
              <a:t>银</a:t>
            </a:r>
            <a:r>
              <a:rPr lang="zh-CN" altLang="en-US" sz="1000" kern="100" dirty="0">
                <a:latin typeface="+mj-ea"/>
                <a:cs typeface="Times New Roman" panose="02020603050405020304" pitchFamily="18" charset="0"/>
              </a:rPr>
              <a:t>华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排名</a:t>
            </a:r>
            <a:r>
              <a:rPr lang="en-US" altLang="zh-CN" sz="1000" kern="100" dirty="0">
                <a:latin typeface="+mj-ea"/>
                <a:ea typeface="+mj-ea"/>
                <a:cs typeface="Times New Roman" panose="02020603050405020304" pitchFamily="18" charset="0"/>
              </a:rPr>
              <a:t>17</a:t>
            </a: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名，较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24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年底上升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名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超越景顺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），全年合计增长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403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亿，增速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117%</a:t>
            </a: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，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实现规模翻倍，持营贡献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317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亿元。其中，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Q4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新发科创债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ETF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年末规模近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300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亿元，规模贡献显著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。</a:t>
            </a:r>
            <a:endParaRPr lang="en-US" altLang="zh-CN" sz="1000" kern="100" dirty="0" smtClean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000" b="1" u="sng" dirty="0" smtClean="0">
                <a:solidFill>
                  <a:srgbClr val="C00000"/>
                </a:solidFill>
                <a:latin typeface="+mj-ea"/>
                <a:ea typeface="+mj-ea"/>
              </a:rPr>
              <a:t>权益</a:t>
            </a:r>
            <a:r>
              <a:rPr lang="en-US" altLang="zh-CN" sz="1000" b="1" u="sng" dirty="0">
                <a:solidFill>
                  <a:srgbClr val="C00000"/>
                </a:solidFill>
                <a:latin typeface="+mj-ea"/>
                <a:ea typeface="+mj-ea"/>
              </a:rPr>
              <a:t>ETF</a:t>
            </a:r>
            <a:r>
              <a:rPr lang="zh-CN" altLang="zh-CN" sz="1000" b="1" u="sng" dirty="0" smtClean="0">
                <a:solidFill>
                  <a:srgbClr val="C00000"/>
                </a:solidFill>
                <a:latin typeface="+mj-ea"/>
                <a:ea typeface="+mj-ea"/>
              </a:rPr>
              <a:t>（含</a:t>
            </a:r>
            <a:r>
              <a:rPr lang="zh-CN" altLang="zh-CN" sz="1000" b="1" u="sng" dirty="0">
                <a:solidFill>
                  <a:srgbClr val="C00000"/>
                </a:solidFill>
                <a:latin typeface="+mj-ea"/>
                <a:ea typeface="+mj-ea"/>
              </a:rPr>
              <a:t>联接</a:t>
            </a:r>
            <a:r>
              <a:rPr lang="zh-CN" altLang="zh-CN" sz="1000" b="1" u="sng" dirty="0" smtClean="0">
                <a:solidFill>
                  <a:srgbClr val="C00000"/>
                </a:solidFill>
                <a:latin typeface="+mj-ea"/>
                <a:ea typeface="+mj-ea"/>
              </a:rPr>
              <a:t>）</a:t>
            </a:r>
            <a:r>
              <a:rPr lang="zh-CN" altLang="en-US" sz="1000" b="1" u="sng" dirty="0" smtClean="0">
                <a:solidFill>
                  <a:srgbClr val="C00000"/>
                </a:solidFill>
                <a:latin typeface="+mj-ea"/>
                <a:ea typeface="+mj-ea"/>
              </a:rPr>
              <a:t>：</a:t>
            </a:r>
            <a:r>
              <a:rPr lang="zh-CN" altLang="zh-CN" sz="1000" dirty="0" smtClean="0">
                <a:latin typeface="+mj-ea"/>
              </a:rPr>
              <a:t>银</a:t>
            </a:r>
            <a:r>
              <a:rPr lang="zh-CN" altLang="zh-CN" sz="1000" dirty="0">
                <a:latin typeface="+mj-ea"/>
              </a:rPr>
              <a:t>华</a:t>
            </a:r>
            <a:r>
              <a:rPr lang="zh-CN" altLang="zh-CN" sz="1000" dirty="0" smtClean="0">
                <a:latin typeface="+mj-ea"/>
                <a:ea typeface="+mj-ea"/>
              </a:rPr>
              <a:t>排名</a:t>
            </a:r>
            <a:r>
              <a:rPr lang="en-US" altLang="zh-CN" sz="1000" dirty="0" smtClean="0">
                <a:latin typeface="+mj-ea"/>
                <a:ea typeface="+mj-ea"/>
              </a:rPr>
              <a:t>17</a:t>
            </a:r>
            <a:r>
              <a:rPr lang="zh-CN" altLang="zh-CN" sz="1000" dirty="0" smtClean="0">
                <a:latin typeface="+mj-ea"/>
                <a:ea typeface="+mj-ea"/>
              </a:rPr>
              <a:t>名</a:t>
            </a:r>
            <a:r>
              <a:rPr lang="zh-CN" altLang="zh-CN" sz="1000" dirty="0">
                <a:latin typeface="+mj-ea"/>
                <a:ea typeface="+mj-ea"/>
              </a:rPr>
              <a:t>，较</a:t>
            </a:r>
            <a:r>
              <a:rPr lang="en-US" altLang="zh-CN" sz="1000" dirty="0" smtClean="0">
                <a:latin typeface="+mj-ea"/>
                <a:ea typeface="+mj-ea"/>
              </a:rPr>
              <a:t>24</a:t>
            </a:r>
            <a:r>
              <a:rPr lang="zh-CN" altLang="zh-CN" sz="1000" dirty="0" smtClean="0">
                <a:latin typeface="+mj-ea"/>
                <a:ea typeface="+mj-ea"/>
              </a:rPr>
              <a:t>年底</a:t>
            </a:r>
            <a:r>
              <a:rPr lang="zh-CN" altLang="en-US" sz="1000" dirty="0" smtClean="0">
                <a:latin typeface="+mj-ea"/>
                <a:ea typeface="+mj-ea"/>
              </a:rPr>
              <a:t>持平</a:t>
            </a:r>
            <a:r>
              <a:rPr lang="zh-CN" altLang="en-US" sz="1000" dirty="0" smtClean="0">
                <a:latin typeface="+mj-ea"/>
                <a:ea typeface="+mj-ea"/>
              </a:rPr>
              <a:t>，全年合计增长</a:t>
            </a:r>
            <a:r>
              <a:rPr lang="en-US" altLang="zh-CN" sz="1000" dirty="0" smtClean="0">
                <a:latin typeface="+mj-ea"/>
                <a:ea typeface="+mj-ea"/>
              </a:rPr>
              <a:t>201</a:t>
            </a:r>
            <a:r>
              <a:rPr lang="zh-CN" altLang="en-US" sz="1000" dirty="0" smtClean="0">
                <a:latin typeface="+mj-ea"/>
                <a:ea typeface="+mj-ea"/>
              </a:rPr>
              <a:t>亿，其中</a:t>
            </a:r>
            <a:r>
              <a:rPr lang="zh-CN" altLang="en-US" sz="1000" dirty="0">
                <a:latin typeface="+mj-ea"/>
                <a:ea typeface="+mj-ea"/>
              </a:rPr>
              <a:t>净值</a:t>
            </a:r>
            <a:r>
              <a:rPr lang="zh-CN" altLang="en-US" sz="1000" dirty="0" smtClean="0">
                <a:latin typeface="+mj-ea"/>
                <a:ea typeface="+mj-ea"/>
              </a:rPr>
              <a:t>贡献</a:t>
            </a:r>
            <a:r>
              <a:rPr lang="en-US" altLang="zh-CN" sz="1000" dirty="0" smtClean="0">
                <a:latin typeface="+mj-ea"/>
                <a:ea typeface="+mj-ea"/>
              </a:rPr>
              <a:t>121</a:t>
            </a:r>
            <a:r>
              <a:rPr lang="zh-CN" altLang="en-US" sz="1000" dirty="0" smtClean="0">
                <a:latin typeface="+mj-ea"/>
                <a:ea typeface="+mj-ea"/>
              </a:rPr>
              <a:t>亿元</a:t>
            </a:r>
            <a:r>
              <a:rPr lang="zh-CN" altLang="zh-CN" sz="1000" dirty="0" smtClean="0">
                <a:latin typeface="+mj-ea"/>
                <a:ea typeface="+mj-ea"/>
              </a:rPr>
              <a:t>。</a:t>
            </a:r>
            <a:endParaRPr lang="zh-CN" altLang="en-US" sz="1000" kern="1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31340" y="1230655"/>
            <a:ext cx="195707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2.1 </a:t>
            </a:r>
            <a:r>
              <a:rPr lang="zh-CN" altLang="en-US" sz="1100" b="1" kern="100" dirty="0">
                <a:latin typeface="+mj-ea"/>
                <a:ea typeface="+mj-ea"/>
                <a:cs typeface="Times New Roman" panose="02020603050405020304" pitchFamily="18" charset="0"/>
              </a:rPr>
              <a:t>非货</a:t>
            </a:r>
            <a:r>
              <a:rPr lang="en-US" altLang="zh-CN" sz="11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ETF</a:t>
            </a:r>
            <a:r>
              <a:rPr lang="zh-CN" altLang="en-US" sz="11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（含联接）排名</a:t>
            </a:r>
            <a:endParaRPr lang="zh-CN" altLang="en-US" sz="1100" b="1" kern="1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938354" y="1230655"/>
            <a:ext cx="195707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2.2 </a:t>
            </a:r>
            <a:r>
              <a:rPr lang="zh-CN" altLang="en-US" sz="11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权益</a:t>
            </a:r>
            <a:r>
              <a:rPr lang="en-US" altLang="zh-CN" sz="11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ETF</a:t>
            </a:r>
            <a:r>
              <a:rPr lang="zh-CN" altLang="en-US" sz="11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（含</a:t>
            </a:r>
            <a:r>
              <a:rPr lang="zh-CN" altLang="en-US" sz="11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联接）排名</a:t>
            </a:r>
            <a:endParaRPr lang="zh-CN" altLang="en-US" sz="1100" b="1" kern="1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167" y="1492265"/>
            <a:ext cx="5145368" cy="5292936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964" y="1489020"/>
            <a:ext cx="5309176" cy="529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44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616133" y="869139"/>
            <a:ext cx="115768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3</a:t>
            </a:r>
            <a:r>
              <a:rPr lang="en-US" altLang="zh-CN" sz="1100" b="1" kern="100" dirty="0">
                <a:latin typeface="+mj-ea"/>
                <a:ea typeface="+mj-ea"/>
                <a:cs typeface="Times New Roman" panose="02020603050405020304" pitchFamily="18" charset="0"/>
              </a:rPr>
              <a:t>.</a:t>
            </a:r>
            <a:r>
              <a:rPr lang="zh-CN" altLang="en-US" sz="1100" b="1" kern="100" dirty="0">
                <a:latin typeface="+mj-ea"/>
                <a:ea typeface="+mj-ea"/>
                <a:cs typeface="Times New Roman" panose="02020603050405020304" pitchFamily="18" charset="0"/>
              </a:rPr>
              <a:t>货币排名</a:t>
            </a:r>
            <a:r>
              <a:rPr lang="zh-CN" altLang="en-US" sz="11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情况</a:t>
            </a:r>
            <a:endParaRPr lang="zh-CN" altLang="en-US" sz="1100" b="1" kern="1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62771" y="282882"/>
            <a:ext cx="763385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b="1" kern="100" dirty="0" smtClean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货币：</a:t>
            </a:r>
            <a:endParaRPr lang="en-US" altLang="zh-CN" sz="1000" b="1" kern="100" dirty="0" smtClean="0">
              <a:solidFill>
                <a:srgbClr val="C0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银华位列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18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名，排名</a:t>
            </a: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较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24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年底上升</a:t>
            </a:r>
            <a:r>
              <a:rPr lang="en-US" altLang="zh-CN" sz="1000" kern="100" dirty="0">
                <a:latin typeface="+mj-ea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</a:t>
            </a: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，较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25Q3</a:t>
            </a: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持平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。全年规模增长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574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亿元，增速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20%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，高于货币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Top30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平均增幅（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14%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）。</a:t>
            </a:r>
            <a:endParaRPr lang="zh-CN" altLang="en-US" sz="1000" kern="1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36" y="1130749"/>
            <a:ext cx="6718332" cy="5654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385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259724" y="1470657"/>
            <a:ext cx="119936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4</a:t>
            </a:r>
            <a:r>
              <a:rPr lang="en-US" altLang="zh-CN" sz="1100" b="1" kern="100" dirty="0">
                <a:latin typeface="+mj-ea"/>
                <a:ea typeface="+mj-ea"/>
                <a:cs typeface="Times New Roman" panose="02020603050405020304" pitchFamily="18" charset="0"/>
              </a:rPr>
              <a:t>. </a:t>
            </a:r>
            <a:r>
              <a:rPr lang="zh-CN" altLang="en-US" sz="1100" b="1" kern="100" dirty="0">
                <a:latin typeface="+mj-ea"/>
                <a:ea typeface="+mj-ea"/>
                <a:cs typeface="Times New Roman" panose="02020603050405020304" pitchFamily="18" charset="0"/>
              </a:rPr>
              <a:t>固收排名情况</a:t>
            </a:r>
          </a:p>
        </p:txBody>
      </p:sp>
      <p:sp>
        <p:nvSpPr>
          <p:cNvPr id="6" name="矩形 5"/>
          <p:cNvSpPr/>
          <p:nvPr/>
        </p:nvSpPr>
        <p:spPr>
          <a:xfrm>
            <a:off x="605925" y="324189"/>
            <a:ext cx="1158607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b="1" kern="100" dirty="0" smtClean="0">
                <a:solidFill>
                  <a:srgbClr val="C00000"/>
                </a:solidFill>
                <a:latin typeface="+mj-ea"/>
                <a:ea typeface="+mj-ea"/>
                <a:cs typeface="Times New Roman" panose="02020603050405020304" pitchFamily="18" charset="0"/>
              </a:rPr>
              <a:t>固收：</a:t>
            </a:r>
            <a:endParaRPr lang="en-US" altLang="zh-CN" sz="1000" b="1" kern="100" dirty="0" smtClean="0">
              <a:solidFill>
                <a:srgbClr val="C0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固</a:t>
            </a: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收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Top30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公司中仅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13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家实现规模增长，主要源于信用债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ETF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规模增长。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T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op30</a:t>
            </a: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公司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规模增</a:t>
            </a: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量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中位数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-52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亿，增速中位数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-3%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。</a:t>
            </a:r>
            <a:endParaRPr lang="zh-CN" altLang="en-US" sz="10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银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华固收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25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年规模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增量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23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亿，增速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2%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，持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营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增量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-6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亿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；银华固收</a:t>
            </a:r>
            <a:r>
              <a:rPr lang="zh-CN" altLang="en-US" sz="1000" kern="100" dirty="0" smtClean="0">
                <a:latin typeface="+mj-ea"/>
                <a:cs typeface="Times New Roman" panose="02020603050405020304" pitchFamily="18" charset="0"/>
              </a:rPr>
              <a:t>位列</a:t>
            </a:r>
            <a:r>
              <a:rPr lang="zh-CN" altLang="en-US" sz="1000" kern="100" dirty="0">
                <a:latin typeface="+mj-ea"/>
                <a:cs typeface="Times New Roman" panose="02020603050405020304" pitchFamily="18" charset="0"/>
              </a:rPr>
              <a:t>第</a:t>
            </a:r>
            <a:r>
              <a:rPr lang="en-US" altLang="zh-CN" sz="1000" kern="100" dirty="0" smtClean="0">
                <a:latin typeface="+mj-ea"/>
                <a:cs typeface="Times New Roman" panose="02020603050405020304" pitchFamily="18" charset="0"/>
              </a:rPr>
              <a:t>28</a:t>
            </a:r>
            <a:r>
              <a:rPr lang="zh-CN" altLang="en-US" sz="1000" kern="100" dirty="0" smtClean="0">
                <a:latin typeface="+mj-ea"/>
                <a:cs typeface="Times New Roman" panose="02020603050405020304" pitchFamily="18" charset="0"/>
              </a:rPr>
              <a:t>名</a:t>
            </a:r>
            <a:r>
              <a:rPr lang="zh-CN" altLang="en-US" sz="1000" kern="100" dirty="0" smtClean="0">
                <a:latin typeface="+mj-ea"/>
                <a:cs typeface="Times New Roman" panose="02020603050405020304" pitchFamily="18" charset="0"/>
              </a:rPr>
              <a:t>，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较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24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年底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排名上升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</a:t>
            </a:r>
            <a:r>
              <a:rPr lang="zh-CN" altLang="en-US" sz="1000" kern="100" dirty="0">
                <a:latin typeface="+mj-ea"/>
                <a:ea typeface="+mj-ea"/>
                <a:cs typeface="Times New Roman" panose="02020603050405020304" pitchFamily="18" charset="0"/>
              </a:rPr>
              <a:t>，较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Q3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上升</a:t>
            </a:r>
            <a:r>
              <a:rPr lang="en-US" altLang="zh-CN" sz="1000" kern="100" dirty="0">
                <a:latin typeface="+mj-ea"/>
                <a:ea typeface="+mj-ea"/>
                <a:cs typeface="Times New Roman" panose="02020603050405020304" pitchFamily="18" charset="0"/>
              </a:rPr>
              <a:t>4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名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。</a:t>
            </a:r>
            <a:endParaRPr lang="en-US" altLang="zh-CN" sz="1000" kern="100" dirty="0" smtClean="0">
              <a:latin typeface="+mj-ea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就</a:t>
            </a:r>
            <a:r>
              <a:rPr lang="en-US" altLang="zh-CN" sz="1000" kern="100" dirty="0">
                <a:latin typeface="+mj-ea"/>
                <a:ea typeface="+mj-ea"/>
                <a:cs typeface="Times New Roman" panose="02020603050405020304" pitchFamily="18" charset="0"/>
              </a:rPr>
              <a:t>Q4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而言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，银华固收的规模增量达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133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亿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，在固收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Top30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公司位列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第</a:t>
            </a:r>
            <a:r>
              <a:rPr lang="en-US" altLang="zh-CN" sz="1000" kern="100" dirty="0">
                <a:latin typeface="+mj-ea"/>
                <a:ea typeface="+mj-ea"/>
                <a:cs typeface="Times New Roman" panose="02020603050405020304" pitchFamily="18" charset="0"/>
              </a:rPr>
              <a:t>8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；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增速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13%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，在固收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Top30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公司位列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第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4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，主要源于科创债</a:t>
            </a:r>
            <a:r>
              <a:rPr lang="en-US" altLang="zh-CN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ETF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的规模增长</a:t>
            </a:r>
            <a:r>
              <a:rPr lang="zh-CN" altLang="en-US" sz="1000" kern="100" dirty="0" smtClean="0">
                <a:latin typeface="+mj-ea"/>
                <a:ea typeface="+mj-ea"/>
                <a:cs typeface="Times New Roman" panose="02020603050405020304" pitchFamily="18" charset="0"/>
              </a:rPr>
              <a:t>。</a:t>
            </a:r>
            <a:endParaRPr lang="zh-CN" altLang="en-US" sz="1000" kern="1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366" y="1732267"/>
            <a:ext cx="6944966" cy="5055711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768729" y="6006151"/>
            <a:ext cx="36242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 smtClean="0"/>
              <a:t>注</a:t>
            </a:r>
            <a:r>
              <a:rPr lang="zh-CN" altLang="en-US" sz="900" dirty="0" smtClean="0"/>
              <a:t>：</a:t>
            </a:r>
            <a:r>
              <a:rPr lang="zh-CN" altLang="en-US" sz="900" kern="100" dirty="0">
                <a:latin typeface="+mj-ea"/>
                <a:cs typeface="Times New Roman" panose="02020603050405020304" pitchFamily="18" charset="0"/>
              </a:rPr>
              <a:t>固收产品分类调整</a:t>
            </a:r>
            <a:r>
              <a:rPr lang="en-US" altLang="zh-CN" sz="900" kern="100" dirty="0">
                <a:latin typeface="+mj-ea"/>
                <a:cs typeface="Times New Roman" panose="02020603050405020304" pitchFamily="18" charset="0"/>
              </a:rPr>
              <a:t>——</a:t>
            </a:r>
            <a:r>
              <a:rPr lang="zh-CN" altLang="en-US" sz="900" kern="100" dirty="0">
                <a:latin typeface="+mj-ea"/>
                <a:cs typeface="Times New Roman" panose="02020603050405020304" pitchFamily="18" charset="0"/>
              </a:rPr>
              <a:t>原归属于固收分类的</a:t>
            </a:r>
            <a:r>
              <a:rPr lang="en-US" altLang="zh-CN" sz="900" kern="100" dirty="0">
                <a:latin typeface="+mj-ea"/>
                <a:cs typeface="Times New Roman" panose="02020603050405020304" pitchFamily="18" charset="0"/>
              </a:rPr>
              <a:t>2</a:t>
            </a:r>
            <a:r>
              <a:rPr lang="zh-CN" altLang="en-US" sz="900" kern="100" dirty="0">
                <a:latin typeface="+mj-ea"/>
                <a:cs typeface="Times New Roman" panose="02020603050405020304" pitchFamily="18" charset="0"/>
              </a:rPr>
              <a:t>只产品银华季季红和银华信用精选一年，分别于</a:t>
            </a:r>
            <a:r>
              <a:rPr lang="en-US" altLang="zh-CN" sz="900" kern="100" dirty="0">
                <a:latin typeface="+mj-ea"/>
                <a:cs typeface="Times New Roman" panose="02020603050405020304" pitchFamily="18" charset="0"/>
              </a:rPr>
              <a:t>24Q4</a:t>
            </a:r>
            <a:r>
              <a:rPr lang="zh-CN" altLang="en-US" sz="900" kern="100" dirty="0">
                <a:latin typeface="+mj-ea"/>
                <a:cs typeface="Times New Roman" panose="02020603050405020304" pitchFamily="18" charset="0"/>
              </a:rPr>
              <a:t>和</a:t>
            </a:r>
            <a:r>
              <a:rPr lang="en-US" altLang="zh-CN" sz="900" kern="100" dirty="0">
                <a:latin typeface="+mj-ea"/>
                <a:cs typeface="Times New Roman" panose="02020603050405020304" pitchFamily="18" charset="0"/>
              </a:rPr>
              <a:t>25Q1</a:t>
            </a:r>
            <a:r>
              <a:rPr lang="zh-CN" altLang="en-US" sz="900" kern="100" dirty="0">
                <a:latin typeface="+mj-ea"/>
                <a:cs typeface="Times New Roman" panose="02020603050405020304" pitchFamily="18" charset="0"/>
              </a:rPr>
              <a:t>调整为固收</a:t>
            </a:r>
            <a:r>
              <a:rPr lang="en-US" altLang="zh-CN" sz="900" kern="100" dirty="0">
                <a:latin typeface="+mj-ea"/>
                <a:cs typeface="Times New Roman" panose="02020603050405020304" pitchFamily="18" charset="0"/>
              </a:rPr>
              <a:t>+</a:t>
            </a:r>
            <a:r>
              <a:rPr lang="zh-CN" altLang="en-US" sz="900" kern="100" dirty="0">
                <a:latin typeface="+mj-ea"/>
                <a:cs typeface="Times New Roman" panose="02020603050405020304" pitchFamily="18" charset="0"/>
              </a:rPr>
              <a:t>产品，因为分类调整对固收业务规模和排名会造成部分影响，这</a:t>
            </a:r>
            <a:r>
              <a:rPr lang="en-US" altLang="zh-CN" sz="900" kern="100" dirty="0">
                <a:latin typeface="+mj-ea"/>
                <a:cs typeface="Times New Roman" panose="02020603050405020304" pitchFamily="18" charset="0"/>
              </a:rPr>
              <a:t>2</a:t>
            </a:r>
            <a:r>
              <a:rPr lang="zh-CN" altLang="en-US" sz="900" kern="100" dirty="0">
                <a:latin typeface="+mj-ea"/>
                <a:cs typeface="Times New Roman" panose="02020603050405020304" pitchFamily="18" charset="0"/>
              </a:rPr>
              <a:t>只产品</a:t>
            </a:r>
            <a:r>
              <a:rPr lang="en-US" altLang="zh-CN" sz="900" kern="100" dirty="0" smtClean="0">
                <a:latin typeface="+mj-ea"/>
                <a:cs typeface="Times New Roman" panose="02020603050405020304" pitchFamily="18" charset="0"/>
              </a:rPr>
              <a:t>25Q4</a:t>
            </a:r>
            <a:r>
              <a:rPr lang="zh-CN" altLang="en-US" sz="900" kern="100" dirty="0" smtClean="0">
                <a:latin typeface="+mj-ea"/>
                <a:cs typeface="Times New Roman" panose="02020603050405020304" pitchFamily="18" charset="0"/>
              </a:rPr>
              <a:t>合计规模</a:t>
            </a:r>
            <a:r>
              <a:rPr lang="en-US" altLang="zh-CN" sz="900" kern="100" dirty="0" smtClean="0">
                <a:latin typeface="+mj-ea"/>
                <a:cs typeface="Times New Roman" panose="02020603050405020304" pitchFamily="18" charset="0"/>
              </a:rPr>
              <a:t>44</a:t>
            </a:r>
            <a:r>
              <a:rPr lang="zh-CN" altLang="en-US" sz="900" kern="100" dirty="0" smtClean="0">
                <a:latin typeface="+mj-ea"/>
                <a:cs typeface="Times New Roman" panose="02020603050405020304" pitchFamily="18" charset="0"/>
              </a:rPr>
              <a:t>亿</a:t>
            </a:r>
            <a:endParaRPr lang="zh-CN" altLang="en-US" sz="900" dirty="0"/>
          </a:p>
          <a:p>
            <a:endParaRPr lang="zh-CN" altLang="en-US" sz="900" dirty="0"/>
          </a:p>
        </p:txBody>
      </p:sp>
    </p:spTree>
    <p:extLst>
      <p:ext uri="{BB962C8B-B14F-4D97-AF65-F5344CB8AC3E}">
        <p14:creationId xmlns:p14="http://schemas.microsoft.com/office/powerpoint/2010/main" val="163166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017464" y="1131971"/>
            <a:ext cx="130676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00" b="1" kern="100" dirty="0">
                <a:latin typeface="+mj-ea"/>
                <a:ea typeface="+mj-ea"/>
                <a:cs typeface="Times New Roman" panose="02020603050405020304" pitchFamily="18" charset="0"/>
              </a:rPr>
              <a:t>5. </a:t>
            </a:r>
            <a:r>
              <a:rPr lang="zh-CN" altLang="en-US" sz="1100" b="1" kern="100" dirty="0">
                <a:latin typeface="+mj-ea"/>
                <a:ea typeface="+mj-ea"/>
                <a:cs typeface="Times New Roman" panose="02020603050405020304" pitchFamily="18" charset="0"/>
              </a:rPr>
              <a:t>固收</a:t>
            </a:r>
            <a:r>
              <a:rPr lang="en-US" altLang="zh-CN" sz="1100" b="1" kern="100" dirty="0">
                <a:latin typeface="+mj-ea"/>
                <a:ea typeface="+mj-ea"/>
                <a:cs typeface="Times New Roman" panose="02020603050405020304" pitchFamily="18" charset="0"/>
              </a:rPr>
              <a:t>+</a:t>
            </a:r>
            <a:r>
              <a:rPr lang="zh-CN" altLang="en-US" sz="1100" b="1" kern="100" dirty="0">
                <a:latin typeface="+mj-ea"/>
                <a:ea typeface="+mj-ea"/>
                <a:cs typeface="Times New Roman" panose="02020603050405020304" pitchFamily="18" charset="0"/>
              </a:rPr>
              <a:t>排名情况</a:t>
            </a:r>
          </a:p>
        </p:txBody>
      </p:sp>
      <p:sp>
        <p:nvSpPr>
          <p:cNvPr id="6" name="矩形 5"/>
          <p:cNvSpPr/>
          <p:nvPr/>
        </p:nvSpPr>
        <p:spPr>
          <a:xfrm>
            <a:off x="653617" y="347141"/>
            <a:ext cx="9932005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b="1" dirty="0" smtClean="0">
                <a:solidFill>
                  <a:srgbClr val="C00000"/>
                </a:solidFill>
                <a:latin typeface="+mn-ea"/>
              </a:rPr>
              <a:t>固收</a:t>
            </a:r>
            <a:r>
              <a:rPr lang="en-US" altLang="zh-CN" sz="1000" b="1" dirty="0" smtClean="0">
                <a:solidFill>
                  <a:srgbClr val="C00000"/>
                </a:solidFill>
                <a:latin typeface="+mn-ea"/>
              </a:rPr>
              <a:t>+:</a:t>
            </a:r>
          </a:p>
          <a:p>
            <a:pPr>
              <a:lnSpc>
                <a:spcPct val="150000"/>
              </a:lnSpc>
            </a:pPr>
            <a:r>
              <a:rPr lang="zh-CN" altLang="zh-CN" sz="1000" dirty="0" smtClean="0">
                <a:latin typeface="+mn-ea"/>
              </a:rPr>
              <a:t>银</a:t>
            </a:r>
            <a:r>
              <a:rPr lang="zh-CN" altLang="zh-CN" sz="1000" dirty="0">
                <a:latin typeface="+mn-ea"/>
              </a:rPr>
              <a:t>华固收</a:t>
            </a:r>
            <a:r>
              <a:rPr lang="en-US" altLang="zh-CN" sz="1000" dirty="0">
                <a:latin typeface="+mn-ea"/>
              </a:rPr>
              <a:t>+</a:t>
            </a:r>
            <a:r>
              <a:rPr lang="zh-CN" altLang="zh-CN" sz="1000" dirty="0" smtClean="0">
                <a:latin typeface="+mn-ea"/>
              </a:rPr>
              <a:t>规模</a:t>
            </a:r>
            <a:r>
              <a:rPr lang="en-US" altLang="zh-CN" sz="1000" dirty="0" smtClean="0">
                <a:latin typeface="+mn-ea"/>
              </a:rPr>
              <a:t>343</a:t>
            </a:r>
            <a:r>
              <a:rPr lang="zh-CN" altLang="zh-CN" sz="1000" dirty="0" smtClean="0">
                <a:latin typeface="+mn-ea"/>
              </a:rPr>
              <a:t>亿</a:t>
            </a:r>
            <a:r>
              <a:rPr lang="zh-CN" altLang="zh-CN" sz="1000" dirty="0">
                <a:latin typeface="+mn-ea"/>
              </a:rPr>
              <a:t>，较</a:t>
            </a:r>
            <a:r>
              <a:rPr lang="zh-CN" altLang="zh-CN" sz="1000" dirty="0" smtClean="0">
                <a:latin typeface="+mn-ea"/>
              </a:rPr>
              <a:t>年初</a:t>
            </a:r>
            <a:r>
              <a:rPr lang="zh-CN" altLang="en-US" sz="1000" dirty="0" smtClean="0">
                <a:latin typeface="+mn-ea"/>
              </a:rPr>
              <a:t>增长</a:t>
            </a:r>
            <a:r>
              <a:rPr lang="en-US" altLang="zh-CN" sz="1000" dirty="0" smtClean="0">
                <a:latin typeface="+mn-ea"/>
              </a:rPr>
              <a:t>298</a:t>
            </a:r>
            <a:r>
              <a:rPr lang="zh-CN" altLang="zh-CN" sz="1000" dirty="0" smtClean="0">
                <a:latin typeface="+mn-ea"/>
              </a:rPr>
              <a:t>亿，</a:t>
            </a:r>
            <a:r>
              <a:rPr lang="zh-CN" altLang="en-US" sz="1000" dirty="0" smtClean="0">
                <a:latin typeface="+mn-ea"/>
              </a:rPr>
              <a:t>增速高达</a:t>
            </a:r>
            <a:r>
              <a:rPr lang="en-US" altLang="zh-CN" sz="1000" dirty="0" smtClean="0">
                <a:latin typeface="+mn-ea"/>
              </a:rPr>
              <a:t>657%</a:t>
            </a:r>
            <a:r>
              <a:rPr lang="zh-CN" altLang="en-US" sz="1000" dirty="0" smtClean="0">
                <a:latin typeface="+mn-ea"/>
              </a:rPr>
              <a:t>，主要源于持营（</a:t>
            </a:r>
            <a:r>
              <a:rPr lang="en-US" altLang="zh-CN" sz="1000" dirty="0" smtClean="0">
                <a:latin typeface="+mn-ea"/>
              </a:rPr>
              <a:t>+244</a:t>
            </a:r>
            <a:r>
              <a:rPr lang="zh-CN" altLang="en-US" sz="1000" dirty="0" smtClean="0">
                <a:latin typeface="+mn-ea"/>
              </a:rPr>
              <a:t>亿</a:t>
            </a:r>
            <a:r>
              <a:rPr lang="zh-CN" altLang="en-US" sz="1000" dirty="0" smtClean="0">
                <a:latin typeface="+mn-ea"/>
              </a:rPr>
              <a:t>），其中增强收益、盛泓</a:t>
            </a:r>
            <a:r>
              <a:rPr lang="en-US" altLang="zh-CN" sz="1000" dirty="0" smtClean="0">
                <a:latin typeface="+mn-ea"/>
              </a:rPr>
              <a:t>2</a:t>
            </a:r>
            <a:r>
              <a:rPr lang="zh-CN" altLang="en-US" sz="1000" dirty="0" smtClean="0">
                <a:latin typeface="+mn-ea"/>
              </a:rPr>
              <a:t>只旗舰产品合计规模增长</a:t>
            </a:r>
            <a:r>
              <a:rPr lang="en-US" altLang="zh-CN" sz="1000" dirty="0" smtClean="0">
                <a:latin typeface="+mn-ea"/>
              </a:rPr>
              <a:t>232</a:t>
            </a:r>
            <a:r>
              <a:rPr lang="zh-CN" altLang="en-US" sz="1000" dirty="0" smtClean="0">
                <a:latin typeface="+mn-ea"/>
              </a:rPr>
              <a:t>亿，当前规模均已突破百亿</a:t>
            </a:r>
            <a:r>
              <a:rPr lang="zh-CN" altLang="zh-CN" sz="1000" dirty="0" smtClean="0">
                <a:latin typeface="+mn-ea"/>
              </a:rPr>
              <a:t>。</a:t>
            </a:r>
            <a:endParaRPr lang="zh-CN" altLang="zh-CN" sz="1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000" dirty="0" smtClean="0">
                <a:latin typeface="+mn-ea"/>
              </a:rPr>
              <a:t>银华固收</a:t>
            </a:r>
            <a:r>
              <a:rPr lang="en-US" altLang="zh-CN" sz="1000" dirty="0" smtClean="0">
                <a:latin typeface="+mn-ea"/>
              </a:rPr>
              <a:t>+</a:t>
            </a:r>
            <a:r>
              <a:rPr lang="zh-CN" altLang="en-US" sz="1000" dirty="0" smtClean="0">
                <a:latin typeface="+mn-ea"/>
              </a:rPr>
              <a:t>排名第</a:t>
            </a:r>
            <a:r>
              <a:rPr lang="en-US" altLang="zh-CN" sz="1000" dirty="0" smtClean="0">
                <a:latin typeface="+mn-ea"/>
              </a:rPr>
              <a:t>23</a:t>
            </a:r>
            <a:r>
              <a:rPr lang="zh-CN" altLang="en-US" sz="1000" dirty="0" smtClean="0">
                <a:latin typeface="+mn-ea"/>
              </a:rPr>
              <a:t>名，较</a:t>
            </a:r>
            <a:r>
              <a:rPr lang="en-US" altLang="zh-CN" sz="1000" dirty="0" smtClean="0">
                <a:latin typeface="+mn-ea"/>
              </a:rPr>
              <a:t>24</a:t>
            </a:r>
            <a:r>
              <a:rPr lang="zh-CN" altLang="en-US" sz="1000" dirty="0" smtClean="0">
                <a:latin typeface="+mn-ea"/>
              </a:rPr>
              <a:t>年末上升</a:t>
            </a:r>
            <a:r>
              <a:rPr lang="en-US" altLang="zh-CN" sz="1000" dirty="0" smtClean="0">
                <a:latin typeface="+mn-ea"/>
              </a:rPr>
              <a:t>31</a:t>
            </a:r>
            <a:r>
              <a:rPr lang="zh-CN" altLang="en-US" sz="1000" dirty="0" smtClean="0">
                <a:latin typeface="+mn-ea"/>
              </a:rPr>
              <a:t>位，较</a:t>
            </a:r>
            <a:r>
              <a:rPr lang="en-US" altLang="zh-CN" sz="1000" dirty="0" smtClean="0">
                <a:latin typeface="+mn-ea"/>
              </a:rPr>
              <a:t>25Q3</a:t>
            </a:r>
            <a:r>
              <a:rPr lang="zh-CN" altLang="en-US" sz="1000" dirty="0" smtClean="0">
                <a:latin typeface="+mn-ea"/>
              </a:rPr>
              <a:t>上升</a:t>
            </a:r>
            <a:r>
              <a:rPr lang="en-US" altLang="zh-CN" sz="1000" dirty="0" smtClean="0">
                <a:latin typeface="+mn-ea"/>
              </a:rPr>
              <a:t>4</a:t>
            </a:r>
            <a:r>
              <a:rPr lang="zh-CN" altLang="en-US" sz="1000" dirty="0">
                <a:latin typeface="+mn-ea"/>
              </a:rPr>
              <a:t>位</a:t>
            </a:r>
            <a:r>
              <a:rPr lang="zh-CN" altLang="zh-CN" sz="1000" dirty="0" smtClean="0">
                <a:latin typeface="+mn-ea"/>
              </a:rPr>
              <a:t>。</a:t>
            </a:r>
            <a:endParaRPr lang="zh-CN" altLang="en-US" sz="1000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768729" y="6006151"/>
            <a:ext cx="36242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 smtClean="0"/>
              <a:t>注</a:t>
            </a:r>
            <a:r>
              <a:rPr lang="zh-CN" altLang="en-US" sz="900" dirty="0" smtClean="0"/>
              <a:t>：</a:t>
            </a:r>
            <a:r>
              <a:rPr lang="zh-CN" altLang="en-US" sz="900" kern="100" dirty="0">
                <a:latin typeface="+mj-ea"/>
                <a:cs typeface="Times New Roman" panose="02020603050405020304" pitchFamily="18" charset="0"/>
              </a:rPr>
              <a:t>固收产品分类调整</a:t>
            </a:r>
            <a:r>
              <a:rPr lang="en-US" altLang="zh-CN" sz="900" kern="100" dirty="0">
                <a:latin typeface="+mj-ea"/>
                <a:cs typeface="Times New Roman" panose="02020603050405020304" pitchFamily="18" charset="0"/>
              </a:rPr>
              <a:t>——</a:t>
            </a:r>
            <a:r>
              <a:rPr lang="zh-CN" altLang="en-US" sz="900" kern="100" dirty="0">
                <a:latin typeface="+mj-ea"/>
                <a:cs typeface="Times New Roman" panose="02020603050405020304" pitchFamily="18" charset="0"/>
              </a:rPr>
              <a:t>原归属于固收分类的</a:t>
            </a:r>
            <a:r>
              <a:rPr lang="en-US" altLang="zh-CN" sz="900" kern="100" dirty="0">
                <a:latin typeface="+mj-ea"/>
                <a:cs typeface="Times New Roman" panose="02020603050405020304" pitchFamily="18" charset="0"/>
              </a:rPr>
              <a:t>2</a:t>
            </a:r>
            <a:r>
              <a:rPr lang="zh-CN" altLang="en-US" sz="900" kern="100" dirty="0">
                <a:latin typeface="+mj-ea"/>
                <a:cs typeface="Times New Roman" panose="02020603050405020304" pitchFamily="18" charset="0"/>
              </a:rPr>
              <a:t>只产品银华季季红和银华信用精选一年，分别于</a:t>
            </a:r>
            <a:r>
              <a:rPr lang="en-US" altLang="zh-CN" sz="900" kern="100" dirty="0">
                <a:latin typeface="+mj-ea"/>
                <a:cs typeface="Times New Roman" panose="02020603050405020304" pitchFamily="18" charset="0"/>
              </a:rPr>
              <a:t>24Q4</a:t>
            </a:r>
            <a:r>
              <a:rPr lang="zh-CN" altLang="en-US" sz="900" kern="100" dirty="0">
                <a:latin typeface="+mj-ea"/>
                <a:cs typeface="Times New Roman" panose="02020603050405020304" pitchFamily="18" charset="0"/>
              </a:rPr>
              <a:t>和</a:t>
            </a:r>
            <a:r>
              <a:rPr lang="en-US" altLang="zh-CN" sz="900" kern="100" dirty="0">
                <a:latin typeface="+mj-ea"/>
                <a:cs typeface="Times New Roman" panose="02020603050405020304" pitchFamily="18" charset="0"/>
              </a:rPr>
              <a:t>25Q1</a:t>
            </a:r>
            <a:r>
              <a:rPr lang="zh-CN" altLang="en-US" sz="900" kern="100" dirty="0">
                <a:latin typeface="+mj-ea"/>
                <a:cs typeface="Times New Roman" panose="02020603050405020304" pitchFamily="18" charset="0"/>
              </a:rPr>
              <a:t>调整为固收</a:t>
            </a:r>
            <a:r>
              <a:rPr lang="en-US" altLang="zh-CN" sz="900" kern="100" dirty="0">
                <a:latin typeface="+mj-ea"/>
                <a:cs typeface="Times New Roman" panose="02020603050405020304" pitchFamily="18" charset="0"/>
              </a:rPr>
              <a:t>+</a:t>
            </a:r>
            <a:r>
              <a:rPr lang="zh-CN" altLang="en-US" sz="900" kern="100" dirty="0">
                <a:latin typeface="+mj-ea"/>
                <a:cs typeface="Times New Roman" panose="02020603050405020304" pitchFamily="18" charset="0"/>
              </a:rPr>
              <a:t>产品，因为分类调整对固收业务规模和排名会造成部分影响，这</a:t>
            </a:r>
            <a:r>
              <a:rPr lang="en-US" altLang="zh-CN" sz="900" kern="100" dirty="0">
                <a:latin typeface="+mj-ea"/>
                <a:cs typeface="Times New Roman" panose="02020603050405020304" pitchFamily="18" charset="0"/>
              </a:rPr>
              <a:t>2</a:t>
            </a:r>
            <a:r>
              <a:rPr lang="zh-CN" altLang="en-US" sz="900" kern="100" dirty="0">
                <a:latin typeface="+mj-ea"/>
                <a:cs typeface="Times New Roman" panose="02020603050405020304" pitchFamily="18" charset="0"/>
              </a:rPr>
              <a:t>只产品</a:t>
            </a:r>
            <a:r>
              <a:rPr lang="en-US" altLang="zh-CN" sz="900" kern="100" dirty="0" smtClean="0">
                <a:latin typeface="+mj-ea"/>
                <a:cs typeface="Times New Roman" panose="02020603050405020304" pitchFamily="18" charset="0"/>
              </a:rPr>
              <a:t>25Q4</a:t>
            </a:r>
            <a:r>
              <a:rPr lang="zh-CN" altLang="en-US" sz="900" kern="100" dirty="0" smtClean="0">
                <a:latin typeface="+mj-ea"/>
                <a:cs typeface="Times New Roman" panose="02020603050405020304" pitchFamily="18" charset="0"/>
              </a:rPr>
              <a:t>合计规模</a:t>
            </a:r>
            <a:r>
              <a:rPr lang="en-US" altLang="zh-CN" sz="900" kern="100" dirty="0" smtClean="0">
                <a:latin typeface="+mj-ea"/>
                <a:cs typeface="Times New Roman" panose="02020603050405020304" pitchFamily="18" charset="0"/>
              </a:rPr>
              <a:t>44</a:t>
            </a:r>
            <a:r>
              <a:rPr lang="zh-CN" altLang="en-US" sz="900" kern="100" dirty="0" smtClean="0">
                <a:latin typeface="+mj-ea"/>
                <a:cs typeface="Times New Roman" panose="02020603050405020304" pitchFamily="18" charset="0"/>
              </a:rPr>
              <a:t>亿</a:t>
            </a:r>
            <a:endParaRPr lang="zh-CN" altLang="en-US" sz="900" dirty="0"/>
          </a:p>
          <a:p>
            <a:endParaRPr lang="zh-CN" altLang="en-US" sz="9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95" y="1377406"/>
            <a:ext cx="6785151" cy="548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563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360069" y="988573"/>
            <a:ext cx="123142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6. FOF </a:t>
            </a:r>
            <a:r>
              <a:rPr lang="zh-CN" altLang="en-US" sz="1100" b="1" kern="100" dirty="0" smtClean="0">
                <a:latin typeface="+mj-ea"/>
                <a:ea typeface="+mj-ea"/>
                <a:cs typeface="Times New Roman" panose="02020603050405020304" pitchFamily="18" charset="0"/>
              </a:rPr>
              <a:t>排名</a:t>
            </a:r>
            <a:r>
              <a:rPr lang="zh-CN" altLang="en-US" sz="1100" b="1" kern="100" dirty="0">
                <a:latin typeface="+mj-ea"/>
                <a:ea typeface="+mj-ea"/>
                <a:cs typeface="Times New Roman" panose="02020603050405020304" pitchFamily="18" charset="0"/>
              </a:rPr>
              <a:t>情况</a:t>
            </a:r>
          </a:p>
        </p:txBody>
      </p:sp>
      <p:sp>
        <p:nvSpPr>
          <p:cNvPr id="6" name="矩形 5"/>
          <p:cNvSpPr/>
          <p:nvPr/>
        </p:nvSpPr>
        <p:spPr>
          <a:xfrm>
            <a:off x="648769" y="434575"/>
            <a:ext cx="1076239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b="1" dirty="0" smtClean="0">
                <a:solidFill>
                  <a:srgbClr val="C00000"/>
                </a:solidFill>
                <a:latin typeface="+mn-ea"/>
              </a:rPr>
              <a:t>FOF</a:t>
            </a:r>
            <a:r>
              <a:rPr lang="zh-CN" altLang="en-US" sz="1000" b="1" dirty="0" smtClean="0">
                <a:solidFill>
                  <a:srgbClr val="C00000"/>
                </a:solidFill>
                <a:latin typeface="+mn-ea"/>
              </a:rPr>
              <a:t>：</a:t>
            </a:r>
            <a:endParaRPr lang="en-US" altLang="zh-CN" sz="1000" b="1" dirty="0" smtClean="0">
              <a:solidFill>
                <a:srgbClr val="C0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1000" dirty="0" smtClean="0">
                <a:latin typeface="+mn-ea"/>
              </a:rPr>
              <a:t>银</a:t>
            </a:r>
            <a:r>
              <a:rPr lang="zh-CN" altLang="zh-CN" sz="1000" dirty="0">
                <a:latin typeface="+mn-ea"/>
              </a:rPr>
              <a:t>华</a:t>
            </a:r>
            <a:r>
              <a:rPr lang="en-US" altLang="zh-CN" sz="1000" dirty="0">
                <a:latin typeface="+mn-ea"/>
              </a:rPr>
              <a:t>FOF</a:t>
            </a:r>
            <a:r>
              <a:rPr lang="zh-CN" altLang="zh-CN" sz="1000" dirty="0">
                <a:latin typeface="+mn-ea"/>
              </a:rPr>
              <a:t>位列</a:t>
            </a:r>
            <a:r>
              <a:rPr lang="zh-CN" altLang="zh-CN" sz="1000" dirty="0" smtClean="0">
                <a:latin typeface="+mn-ea"/>
              </a:rPr>
              <a:t>第</a:t>
            </a:r>
            <a:r>
              <a:rPr lang="en-US" altLang="zh-CN" sz="1000" dirty="0" smtClean="0">
                <a:latin typeface="+mn-ea"/>
              </a:rPr>
              <a:t>21</a:t>
            </a:r>
            <a:r>
              <a:rPr lang="zh-CN" altLang="zh-CN" sz="1000" dirty="0" smtClean="0">
                <a:latin typeface="+mn-ea"/>
              </a:rPr>
              <a:t>名</a:t>
            </a:r>
            <a:r>
              <a:rPr lang="zh-CN" altLang="zh-CN" sz="1000" dirty="0">
                <a:latin typeface="+mn-ea"/>
              </a:rPr>
              <a:t>，较</a:t>
            </a:r>
            <a:r>
              <a:rPr lang="en-US" altLang="zh-CN" sz="1000" dirty="0" smtClean="0">
                <a:latin typeface="+mn-ea"/>
              </a:rPr>
              <a:t>24</a:t>
            </a:r>
            <a:r>
              <a:rPr lang="zh-CN" altLang="zh-CN" sz="1000" dirty="0" smtClean="0">
                <a:latin typeface="+mn-ea"/>
              </a:rPr>
              <a:t>年底</a:t>
            </a:r>
            <a:r>
              <a:rPr lang="zh-CN" altLang="en-US" sz="1000" dirty="0" smtClean="0">
                <a:latin typeface="+mn-ea"/>
              </a:rPr>
              <a:t>下降</a:t>
            </a:r>
            <a:r>
              <a:rPr lang="en-US" altLang="zh-CN" sz="1000" dirty="0" smtClean="0">
                <a:latin typeface="+mn-ea"/>
              </a:rPr>
              <a:t>2</a:t>
            </a:r>
            <a:r>
              <a:rPr lang="zh-CN" altLang="en-US" sz="1000" dirty="0" smtClean="0">
                <a:latin typeface="+mn-ea"/>
              </a:rPr>
              <a:t>名，较</a:t>
            </a:r>
            <a:r>
              <a:rPr lang="en-US" altLang="zh-CN" sz="1000" dirty="0" smtClean="0">
                <a:latin typeface="+mn-ea"/>
              </a:rPr>
              <a:t>25Q3</a:t>
            </a:r>
            <a:r>
              <a:rPr lang="zh-CN" altLang="en-US" sz="1000" dirty="0" smtClean="0">
                <a:latin typeface="+mn-ea"/>
              </a:rPr>
              <a:t>上升</a:t>
            </a:r>
            <a:r>
              <a:rPr lang="en-US" altLang="zh-CN" sz="1000" dirty="0" smtClean="0">
                <a:latin typeface="+mn-ea"/>
              </a:rPr>
              <a:t>3</a:t>
            </a:r>
            <a:r>
              <a:rPr lang="zh-CN" altLang="en-US" sz="1000" dirty="0" smtClean="0">
                <a:latin typeface="+mn-ea"/>
              </a:rPr>
              <a:t>名</a:t>
            </a:r>
            <a:r>
              <a:rPr lang="zh-CN" altLang="en-US" sz="1000" dirty="0" smtClean="0">
                <a:latin typeface="+mn-ea"/>
              </a:rPr>
              <a:t>。全年规模增长</a:t>
            </a:r>
            <a:r>
              <a:rPr lang="en-US" altLang="zh-CN" sz="1000" dirty="0" smtClean="0">
                <a:latin typeface="+mn-ea"/>
              </a:rPr>
              <a:t>20</a:t>
            </a:r>
            <a:r>
              <a:rPr lang="zh-CN" altLang="en-US" sz="1000" dirty="0" smtClean="0">
                <a:latin typeface="+mn-ea"/>
              </a:rPr>
              <a:t>亿，增速</a:t>
            </a:r>
            <a:r>
              <a:rPr lang="en-US" altLang="zh-CN" sz="1000" dirty="0" smtClean="0">
                <a:latin typeface="+mn-ea"/>
              </a:rPr>
              <a:t>118%</a:t>
            </a:r>
            <a:r>
              <a:rPr lang="zh-CN" altLang="en-US" sz="1000" dirty="0" smtClean="0">
                <a:latin typeface="+mn-ea"/>
              </a:rPr>
              <a:t>，主要来自新发（</a:t>
            </a:r>
            <a:r>
              <a:rPr lang="en-US" altLang="zh-CN" sz="1000" dirty="0" smtClean="0">
                <a:latin typeface="+mn-ea"/>
              </a:rPr>
              <a:t>+35</a:t>
            </a:r>
            <a:r>
              <a:rPr lang="zh-CN" altLang="en-US" sz="1000" dirty="0" smtClean="0">
                <a:latin typeface="+mn-ea"/>
              </a:rPr>
              <a:t>亿）</a:t>
            </a:r>
            <a:r>
              <a:rPr lang="zh-CN" altLang="en-US" sz="1000" dirty="0">
                <a:latin typeface="+mn-ea"/>
              </a:rPr>
              <a:t>。</a:t>
            </a:r>
            <a:endParaRPr lang="zh-CN" altLang="zh-CN" sz="1000" dirty="0">
              <a:latin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2" y="1250182"/>
            <a:ext cx="7071297" cy="547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040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</TotalTime>
  <Words>1206</Words>
  <Application>Microsoft Office PowerPoint</Application>
  <PresentationFormat>宽屏</PresentationFormat>
  <Paragraphs>62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宋体</vt:lpstr>
      <vt:lpstr>微软雅黑</vt:lpstr>
      <vt:lpstr>Arial</vt:lpstr>
      <vt:lpstr>Calibri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王潞怡</dc:creator>
  <cp:lastModifiedBy>张昕彤-0120销售新规</cp:lastModifiedBy>
  <cp:revision>95</cp:revision>
  <cp:lastPrinted>2026-01-22T13:14:26Z</cp:lastPrinted>
  <dcterms:created xsi:type="dcterms:W3CDTF">2024-10-25T12:12:45Z</dcterms:created>
  <dcterms:modified xsi:type="dcterms:W3CDTF">2026-01-22T13:24:14Z</dcterms:modified>
</cp:coreProperties>
</file>